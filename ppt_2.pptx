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72" r:id="rId13"/>
    <p:sldId id="269" r:id="rId14"/>
    <p:sldId id="270" r:id="rId15"/>
    <p:sldId id="271" r:id="rId16"/>
  </p:sldIdLst>
  <p:sldSz cx="10083800" cy="7562850"/>
  <p:notesSz cx="100838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80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6285" y="2344483"/>
            <a:ext cx="8571230" cy="1588198"/>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512570" y="4235196"/>
            <a:ext cx="7058660" cy="1890712"/>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504190" y="1739455"/>
            <a:ext cx="4386453"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93157" y="1739455"/>
            <a:ext cx="4386453"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483636"/>
            <a:ext cx="494030" cy="3075940"/>
          </a:xfrm>
          <a:custGeom>
            <a:avLst/>
            <a:gdLst/>
            <a:ahLst/>
            <a:cxnLst/>
            <a:rect l="l" t="t" r="r" b="b"/>
            <a:pathLst>
              <a:path w="494030" h="3075940">
                <a:moveTo>
                  <a:pt x="0" y="0"/>
                </a:moveTo>
                <a:lnTo>
                  <a:pt x="0" y="3075403"/>
                </a:lnTo>
                <a:lnTo>
                  <a:pt x="493669" y="3075403"/>
                </a:lnTo>
                <a:lnTo>
                  <a:pt x="0" y="0"/>
                </a:lnTo>
                <a:close/>
              </a:path>
            </a:pathLst>
          </a:custGeom>
          <a:solidFill>
            <a:srgbClr val="5FCAEE">
              <a:alpha val="69410"/>
            </a:srgbClr>
          </a:solidFill>
        </p:spPr>
        <p:txBody>
          <a:bodyPr wrap="square" lIns="0" tIns="0" rIns="0" bIns="0" rtlCol="0"/>
          <a:lstStyle/>
          <a:p>
            <a:endParaRPr/>
          </a:p>
        </p:txBody>
      </p:sp>
      <p:sp>
        <p:nvSpPr>
          <p:cNvPr id="17" name="bg object 17"/>
          <p:cNvSpPr/>
          <p:nvPr/>
        </p:nvSpPr>
        <p:spPr>
          <a:xfrm>
            <a:off x="5657149" y="0"/>
            <a:ext cx="4424680" cy="7559675"/>
          </a:xfrm>
          <a:custGeom>
            <a:avLst/>
            <a:gdLst/>
            <a:ahLst/>
            <a:cxnLst/>
            <a:rect l="l" t="t" r="r" b="b"/>
            <a:pathLst>
              <a:path w="4424680" h="7559675">
                <a:moveTo>
                  <a:pt x="0" y="7559040"/>
                </a:moveTo>
                <a:lnTo>
                  <a:pt x="4424110" y="4608028"/>
                </a:lnTo>
              </a:path>
              <a:path w="4424680" h="7559675">
                <a:moveTo>
                  <a:pt x="2107249" y="0"/>
                </a:moveTo>
                <a:lnTo>
                  <a:pt x="3450274" y="7559673"/>
                </a:lnTo>
              </a:path>
            </a:pathLst>
          </a:custGeom>
          <a:ln w="9525">
            <a:solidFill>
              <a:srgbClr val="5FCAEE"/>
            </a:solidFill>
          </a:ln>
        </p:spPr>
        <p:txBody>
          <a:bodyPr wrap="square" lIns="0" tIns="0" rIns="0" bIns="0" rtlCol="0"/>
          <a:lstStyle/>
          <a:p>
            <a:endParaRPr/>
          </a:p>
        </p:txBody>
      </p:sp>
      <p:sp>
        <p:nvSpPr>
          <p:cNvPr id="18" name="bg object 18"/>
          <p:cNvSpPr/>
          <p:nvPr/>
        </p:nvSpPr>
        <p:spPr>
          <a:xfrm>
            <a:off x="7598019" y="0"/>
            <a:ext cx="2483485" cy="7559040"/>
          </a:xfrm>
          <a:custGeom>
            <a:avLst/>
            <a:gdLst/>
            <a:ahLst/>
            <a:cxnLst/>
            <a:rect l="l" t="t" r="r" b="b"/>
            <a:pathLst>
              <a:path w="2483484" h="7559040">
                <a:moveTo>
                  <a:pt x="2230510" y="0"/>
                </a:moveTo>
                <a:lnTo>
                  <a:pt x="0" y="7559040"/>
                </a:lnTo>
                <a:lnTo>
                  <a:pt x="2483240" y="7559040"/>
                </a:lnTo>
                <a:lnTo>
                  <a:pt x="2483240" y="8964"/>
                </a:lnTo>
                <a:lnTo>
                  <a:pt x="2230510" y="0"/>
                </a:lnTo>
                <a:close/>
              </a:path>
            </a:pathLst>
          </a:custGeom>
          <a:solidFill>
            <a:srgbClr val="5FCAEE">
              <a:alpha val="35293"/>
            </a:srgbClr>
          </a:solidFill>
        </p:spPr>
        <p:txBody>
          <a:bodyPr wrap="square" lIns="0" tIns="0" rIns="0" bIns="0" rtlCol="0"/>
          <a:lstStyle/>
          <a:p>
            <a:endParaRPr/>
          </a:p>
        </p:txBody>
      </p:sp>
      <p:sp>
        <p:nvSpPr>
          <p:cNvPr id="19" name="bg object 19"/>
          <p:cNvSpPr/>
          <p:nvPr/>
        </p:nvSpPr>
        <p:spPr>
          <a:xfrm>
            <a:off x="7943867" y="0"/>
            <a:ext cx="2137410" cy="7559040"/>
          </a:xfrm>
          <a:custGeom>
            <a:avLst/>
            <a:gdLst/>
            <a:ahLst/>
            <a:cxnLst/>
            <a:rect l="l" t="t" r="r" b="b"/>
            <a:pathLst>
              <a:path w="2137409" h="7559040">
                <a:moveTo>
                  <a:pt x="2137392" y="0"/>
                </a:moveTo>
                <a:lnTo>
                  <a:pt x="0" y="0"/>
                </a:lnTo>
                <a:lnTo>
                  <a:pt x="1323846" y="7559040"/>
                </a:lnTo>
                <a:lnTo>
                  <a:pt x="2137392" y="7559040"/>
                </a:lnTo>
                <a:lnTo>
                  <a:pt x="2137392" y="0"/>
                </a:lnTo>
                <a:close/>
              </a:path>
            </a:pathLst>
          </a:custGeom>
          <a:solidFill>
            <a:srgbClr val="5FCAEE">
              <a:alpha val="19215"/>
            </a:srgbClr>
          </a:solidFill>
        </p:spPr>
        <p:txBody>
          <a:bodyPr wrap="square" lIns="0" tIns="0" rIns="0" bIns="0" rtlCol="0"/>
          <a:lstStyle/>
          <a:p>
            <a:endParaRPr/>
          </a:p>
        </p:txBody>
      </p:sp>
      <p:sp>
        <p:nvSpPr>
          <p:cNvPr id="20" name="bg object 20"/>
          <p:cNvSpPr/>
          <p:nvPr/>
        </p:nvSpPr>
        <p:spPr>
          <a:xfrm>
            <a:off x="7318916" y="4321324"/>
            <a:ext cx="2762885" cy="3237865"/>
          </a:xfrm>
          <a:custGeom>
            <a:avLst/>
            <a:gdLst/>
            <a:ahLst/>
            <a:cxnLst/>
            <a:rect l="l" t="t" r="r" b="b"/>
            <a:pathLst>
              <a:path w="2762884" h="3237865">
                <a:moveTo>
                  <a:pt x="2762343" y="0"/>
                </a:moveTo>
                <a:lnTo>
                  <a:pt x="0" y="3237715"/>
                </a:lnTo>
                <a:lnTo>
                  <a:pt x="2762343" y="3237715"/>
                </a:lnTo>
                <a:lnTo>
                  <a:pt x="2762343" y="0"/>
                </a:lnTo>
                <a:close/>
              </a:path>
            </a:pathLst>
          </a:custGeom>
          <a:solidFill>
            <a:srgbClr val="17AFE3">
              <a:alpha val="65097"/>
            </a:srgbClr>
          </a:solidFill>
        </p:spPr>
        <p:txBody>
          <a:bodyPr wrap="square" lIns="0" tIns="0" rIns="0" bIns="0" rtlCol="0"/>
          <a:lstStyle/>
          <a:p>
            <a:endParaRPr/>
          </a:p>
        </p:txBody>
      </p:sp>
      <p:sp>
        <p:nvSpPr>
          <p:cNvPr id="21" name="bg object 21"/>
          <p:cNvSpPr/>
          <p:nvPr/>
        </p:nvSpPr>
        <p:spPr>
          <a:xfrm>
            <a:off x="7730525" y="0"/>
            <a:ext cx="2350770" cy="7559040"/>
          </a:xfrm>
          <a:custGeom>
            <a:avLst/>
            <a:gdLst/>
            <a:ahLst/>
            <a:cxnLst/>
            <a:rect l="l" t="t" r="r" b="b"/>
            <a:pathLst>
              <a:path w="2350770" h="7559040">
                <a:moveTo>
                  <a:pt x="2350734" y="0"/>
                </a:moveTo>
                <a:lnTo>
                  <a:pt x="0" y="0"/>
                </a:lnTo>
                <a:lnTo>
                  <a:pt x="2043984" y="7559040"/>
                </a:lnTo>
                <a:lnTo>
                  <a:pt x="2065639" y="7559040"/>
                </a:lnTo>
                <a:lnTo>
                  <a:pt x="2350734" y="7550605"/>
                </a:lnTo>
                <a:lnTo>
                  <a:pt x="2350734" y="0"/>
                </a:lnTo>
                <a:close/>
              </a:path>
            </a:pathLst>
          </a:custGeom>
          <a:solidFill>
            <a:srgbClr val="17AFE3">
              <a:alpha val="49411"/>
            </a:srgbClr>
          </a:solidFill>
        </p:spPr>
        <p:txBody>
          <a:bodyPr wrap="square" lIns="0" tIns="0" rIns="0" bIns="0" rtlCol="0"/>
          <a:lstStyle/>
          <a:p>
            <a:endParaRPr/>
          </a:p>
        </p:txBody>
      </p:sp>
      <p:sp>
        <p:nvSpPr>
          <p:cNvPr id="22" name="bg object 22"/>
          <p:cNvSpPr/>
          <p:nvPr/>
        </p:nvSpPr>
        <p:spPr>
          <a:xfrm>
            <a:off x="9145586" y="0"/>
            <a:ext cx="935990" cy="7559040"/>
          </a:xfrm>
          <a:custGeom>
            <a:avLst/>
            <a:gdLst/>
            <a:ahLst/>
            <a:cxnLst/>
            <a:rect l="l" t="t" r="r" b="b"/>
            <a:pathLst>
              <a:path w="935990" h="7559040">
                <a:moveTo>
                  <a:pt x="935673" y="0"/>
                </a:moveTo>
                <a:lnTo>
                  <a:pt x="744742" y="0"/>
                </a:lnTo>
                <a:lnTo>
                  <a:pt x="0" y="7559040"/>
                </a:lnTo>
                <a:lnTo>
                  <a:pt x="935673" y="7559040"/>
                </a:lnTo>
                <a:lnTo>
                  <a:pt x="935673" y="0"/>
                </a:lnTo>
                <a:close/>
              </a:path>
            </a:pathLst>
          </a:custGeom>
          <a:solidFill>
            <a:srgbClr val="2D83C3">
              <a:alpha val="69410"/>
            </a:srgbClr>
          </a:solidFill>
        </p:spPr>
        <p:txBody>
          <a:bodyPr wrap="square" lIns="0" tIns="0" rIns="0" bIns="0" rtlCol="0"/>
          <a:lstStyle/>
          <a:p>
            <a:endParaRPr/>
          </a:p>
        </p:txBody>
      </p:sp>
      <p:sp>
        <p:nvSpPr>
          <p:cNvPr id="23" name="bg object 23"/>
          <p:cNvSpPr/>
          <p:nvPr/>
        </p:nvSpPr>
        <p:spPr>
          <a:xfrm>
            <a:off x="8924576" y="0"/>
            <a:ext cx="1156970" cy="7559040"/>
          </a:xfrm>
          <a:custGeom>
            <a:avLst/>
            <a:gdLst/>
            <a:ahLst/>
            <a:cxnLst/>
            <a:rect l="l" t="t" r="r" b="b"/>
            <a:pathLst>
              <a:path w="1156970" h="7559040">
                <a:moveTo>
                  <a:pt x="1156683" y="0"/>
                </a:moveTo>
                <a:lnTo>
                  <a:pt x="0" y="0"/>
                </a:lnTo>
                <a:lnTo>
                  <a:pt x="1033660" y="7559040"/>
                </a:lnTo>
                <a:lnTo>
                  <a:pt x="1156683" y="7559040"/>
                </a:lnTo>
                <a:lnTo>
                  <a:pt x="1156683" y="0"/>
                </a:lnTo>
                <a:close/>
              </a:path>
            </a:pathLst>
          </a:custGeom>
          <a:solidFill>
            <a:srgbClr val="226192">
              <a:alpha val="81175"/>
            </a:srgbClr>
          </a:solidFill>
        </p:spPr>
        <p:txBody>
          <a:bodyPr wrap="square" lIns="0" tIns="0" rIns="0" bIns="0" rtlCol="0"/>
          <a:lstStyle/>
          <a:p>
            <a:endParaRPr/>
          </a:p>
        </p:txBody>
      </p:sp>
      <p:sp>
        <p:nvSpPr>
          <p:cNvPr id="24" name="bg object 24"/>
          <p:cNvSpPr/>
          <p:nvPr/>
        </p:nvSpPr>
        <p:spPr>
          <a:xfrm>
            <a:off x="8895050" y="5420201"/>
            <a:ext cx="1186815" cy="2139315"/>
          </a:xfrm>
          <a:custGeom>
            <a:avLst/>
            <a:gdLst/>
            <a:ahLst/>
            <a:cxnLst/>
            <a:rect l="l" t="t" r="r" b="b"/>
            <a:pathLst>
              <a:path w="1186815" h="2139315">
                <a:moveTo>
                  <a:pt x="1186209" y="0"/>
                </a:moveTo>
                <a:lnTo>
                  <a:pt x="0" y="2138838"/>
                </a:lnTo>
                <a:lnTo>
                  <a:pt x="136021" y="2138838"/>
                </a:lnTo>
                <a:lnTo>
                  <a:pt x="1186209" y="2133955"/>
                </a:lnTo>
                <a:lnTo>
                  <a:pt x="1186209" y="0"/>
                </a:lnTo>
                <a:close/>
              </a:path>
            </a:pathLst>
          </a:custGeom>
          <a:solidFill>
            <a:srgbClr val="17AFE3">
              <a:alpha val="65097"/>
            </a:srgbClr>
          </a:solidFill>
        </p:spPr>
        <p:txBody>
          <a:bodyPr wrap="square" lIns="0" tIns="0" rIns="0" bIns="0" rtlCol="0"/>
          <a:lstStyle/>
          <a:p>
            <a:endParaRPr/>
          </a:p>
        </p:txBody>
      </p:sp>
      <p:sp>
        <p:nvSpPr>
          <p:cNvPr id="2" name="Holder 2"/>
          <p:cNvSpPr>
            <a:spLocks noGrp="1"/>
          </p:cNvSpPr>
          <p:nvPr>
            <p:ph type="title"/>
          </p:nvPr>
        </p:nvSpPr>
        <p:spPr>
          <a:xfrm>
            <a:off x="490524" y="371932"/>
            <a:ext cx="7421245" cy="108585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813685" y="3465322"/>
            <a:ext cx="4456429" cy="368554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428492" y="7033450"/>
            <a:ext cx="3226816"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4190" y="7033450"/>
            <a:ext cx="2319274"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6" name="Holder 6"/>
          <p:cNvSpPr>
            <a:spLocks noGrp="1"/>
          </p:cNvSpPr>
          <p:nvPr>
            <p:ph type="sldNum" sz="quarter" idx="7"/>
          </p:nvPr>
        </p:nvSpPr>
        <p:spPr>
          <a:xfrm>
            <a:off x="7260336" y="7033450"/>
            <a:ext cx="2319274"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100" y="1952626"/>
            <a:ext cx="10081259" cy="1490152"/>
          </a:xfrm>
          <a:prstGeom prst="rect">
            <a:avLst/>
          </a:prstGeom>
        </p:spPr>
        <p:txBody>
          <a:bodyPr vert="horz" wrap="square" lIns="0" tIns="12700" rIns="0" bIns="0" rtlCol="0">
            <a:spAutoFit/>
          </a:bodyPr>
          <a:lstStyle/>
          <a:p>
            <a:pPr marL="1671320" marR="5080" indent="-1658620" algn="ctr">
              <a:spcBef>
                <a:spcPts val="100"/>
              </a:spcBef>
            </a:pPr>
            <a:r>
              <a:rPr lang="en-US" sz="3200" u="sng" dirty="0"/>
              <a:t>HybridMusicRec: Intelligent Music Recommendation Using Machine Learning</a:t>
            </a:r>
            <a:br>
              <a:rPr lang="en-US" sz="3200" u="sng" dirty="0"/>
            </a:br>
            <a:endParaRPr sz="3200" u="sng" spc="-10" dirty="0">
              <a:uFill>
                <a:solidFill>
                  <a:srgbClr val="000000"/>
                </a:solidFill>
              </a:uFill>
            </a:endParaRPr>
          </a:p>
        </p:txBody>
      </p:sp>
      <p:sp>
        <p:nvSpPr>
          <p:cNvPr id="3" name="object 3"/>
          <p:cNvSpPr txBox="1">
            <a:spLocks noGrp="1"/>
          </p:cNvSpPr>
          <p:nvPr>
            <p:ph type="body" idx="1"/>
          </p:nvPr>
        </p:nvSpPr>
        <p:spPr>
          <a:xfrm>
            <a:off x="2437130" y="3410051"/>
            <a:ext cx="4971414" cy="2973250"/>
          </a:xfrm>
          <a:prstGeom prst="rect">
            <a:avLst/>
          </a:prstGeom>
        </p:spPr>
        <p:txBody>
          <a:bodyPr vert="horz" wrap="square" lIns="0" tIns="13335" rIns="0" bIns="0" rtlCol="0">
            <a:spAutoFit/>
          </a:bodyPr>
          <a:lstStyle/>
          <a:p>
            <a:pPr algn="ctr">
              <a:lnSpc>
                <a:spcPct val="100000"/>
              </a:lnSpc>
              <a:spcBef>
                <a:spcPts val="105"/>
              </a:spcBef>
            </a:pPr>
            <a:r>
              <a:rPr sz="2800" dirty="0"/>
              <a:t>Group</a:t>
            </a:r>
            <a:r>
              <a:rPr sz="2800" spc="-45" dirty="0"/>
              <a:t> </a:t>
            </a:r>
            <a:r>
              <a:rPr sz="2800" dirty="0"/>
              <a:t>No.</a:t>
            </a:r>
            <a:r>
              <a:rPr sz="2800" spc="-15" dirty="0"/>
              <a:t> </a:t>
            </a:r>
            <a:r>
              <a:rPr lang="en-IN" sz="2800" spc="-15" dirty="0"/>
              <a:t>22107058</a:t>
            </a:r>
            <a:endParaRPr sz="2800" spc="-50" dirty="0"/>
          </a:p>
          <a:p>
            <a:pPr algn="ctr">
              <a:lnSpc>
                <a:spcPct val="100000"/>
              </a:lnSpc>
            </a:pPr>
            <a:r>
              <a:rPr lang="en-IN" sz="2800" spc="-10" dirty="0"/>
              <a:t>Yash </a:t>
            </a:r>
            <a:r>
              <a:rPr lang="en-IN" sz="2800" spc="-10" dirty="0" err="1"/>
              <a:t>Nalawade</a:t>
            </a:r>
            <a:r>
              <a:rPr lang="en-IN" sz="2800" spc="-10" dirty="0"/>
              <a:t> </a:t>
            </a:r>
            <a:r>
              <a:rPr lang="en-IN" sz="2800" spc="-15" dirty="0"/>
              <a:t>22107058</a:t>
            </a:r>
          </a:p>
          <a:p>
            <a:pPr algn="ctr">
              <a:lnSpc>
                <a:spcPct val="100000"/>
              </a:lnSpc>
            </a:pPr>
            <a:r>
              <a:rPr lang="en-IN" sz="2800" spc="-15" dirty="0"/>
              <a:t>Prathamesh Babar 21107058</a:t>
            </a:r>
          </a:p>
          <a:p>
            <a:pPr algn="ctr">
              <a:lnSpc>
                <a:spcPct val="100000"/>
              </a:lnSpc>
            </a:pPr>
            <a:r>
              <a:rPr lang="en-IN" sz="2800" spc="-15" dirty="0"/>
              <a:t>Sidhanath </a:t>
            </a:r>
            <a:r>
              <a:rPr lang="en-IN" sz="2800" spc="-15" dirty="0" err="1"/>
              <a:t>Arolkar</a:t>
            </a:r>
            <a:r>
              <a:rPr lang="en-IN" sz="2800" spc="-15" dirty="0"/>
              <a:t> 221070</a:t>
            </a:r>
            <a:endParaRPr sz="2800" spc="-10" dirty="0"/>
          </a:p>
          <a:p>
            <a:pPr algn="ctr">
              <a:lnSpc>
                <a:spcPct val="100000"/>
              </a:lnSpc>
              <a:spcBef>
                <a:spcPts val="3354"/>
              </a:spcBef>
            </a:pPr>
            <a:r>
              <a:rPr sz="2800" dirty="0"/>
              <a:t>Project</a:t>
            </a:r>
            <a:r>
              <a:rPr sz="2800" spc="-70" dirty="0"/>
              <a:t> </a:t>
            </a:r>
            <a:r>
              <a:rPr sz="2800" spc="-10" dirty="0"/>
              <a:t>Guide</a:t>
            </a:r>
            <a:endParaRPr sz="2800" dirty="0"/>
          </a:p>
          <a:p>
            <a:pPr algn="ctr">
              <a:lnSpc>
                <a:spcPct val="100000"/>
              </a:lnSpc>
              <a:spcBef>
                <a:spcPts val="15"/>
              </a:spcBef>
            </a:pPr>
            <a:r>
              <a:rPr sz="2400" dirty="0"/>
              <a:t>Prof.</a:t>
            </a:r>
            <a:r>
              <a:rPr sz="2400" spc="-65" dirty="0"/>
              <a:t> </a:t>
            </a:r>
            <a:r>
              <a:rPr lang="en-IN" sz="2400" spc="-10" dirty="0"/>
              <a:t>Richa Singh</a:t>
            </a:r>
            <a:endParaRPr sz="2400" dirty="0"/>
          </a:p>
        </p:txBody>
      </p:sp>
      <p:grpSp>
        <p:nvGrpSpPr>
          <p:cNvPr id="4" name="object 4"/>
          <p:cNvGrpSpPr/>
          <p:nvPr/>
        </p:nvGrpSpPr>
        <p:grpSpPr>
          <a:xfrm>
            <a:off x="0" y="146050"/>
            <a:ext cx="10081260" cy="1696720"/>
            <a:chOff x="0" y="146050"/>
            <a:chExt cx="10081260" cy="1696720"/>
          </a:xfrm>
        </p:grpSpPr>
        <p:pic>
          <p:nvPicPr>
            <p:cNvPr id="5" name="object 5"/>
            <p:cNvPicPr/>
            <p:nvPr/>
          </p:nvPicPr>
          <p:blipFill>
            <a:blip r:embed="rId2" cstate="print"/>
            <a:stretch>
              <a:fillRect/>
            </a:stretch>
          </p:blipFill>
          <p:spPr>
            <a:xfrm>
              <a:off x="0" y="1690166"/>
              <a:ext cx="10081259" cy="152349"/>
            </a:xfrm>
            <a:prstGeom prst="rect">
              <a:avLst/>
            </a:prstGeom>
          </p:spPr>
        </p:pic>
        <p:sp>
          <p:nvSpPr>
            <p:cNvPr id="6" name="object 6"/>
            <p:cNvSpPr/>
            <p:nvPr/>
          </p:nvSpPr>
          <p:spPr>
            <a:xfrm>
              <a:off x="0" y="1743075"/>
              <a:ext cx="10080625" cy="0"/>
            </a:xfrm>
            <a:custGeom>
              <a:avLst/>
              <a:gdLst/>
              <a:ahLst/>
              <a:cxnLst/>
              <a:rect l="l" t="t" r="r" b="b"/>
              <a:pathLst>
                <a:path w="10080625">
                  <a:moveTo>
                    <a:pt x="0" y="0"/>
                  </a:moveTo>
                  <a:lnTo>
                    <a:pt x="10080625" y="0"/>
                  </a:lnTo>
                </a:path>
              </a:pathLst>
            </a:custGeom>
            <a:ln w="25400">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1079500" y="146050"/>
              <a:ext cx="7686675" cy="1571625"/>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0233" y="368046"/>
            <a:ext cx="1780539" cy="574040"/>
          </a:xfrm>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3" name="object 3"/>
          <p:cNvSpPr txBox="1"/>
          <p:nvPr/>
        </p:nvSpPr>
        <p:spPr>
          <a:xfrm>
            <a:off x="597204" y="1023733"/>
            <a:ext cx="7393940" cy="5244384"/>
          </a:xfrm>
          <a:prstGeom prst="rect">
            <a:avLst/>
          </a:prstGeom>
        </p:spPr>
        <p:txBody>
          <a:bodyPr vert="horz" wrap="square" lIns="0" tIns="164465" rIns="0" bIns="0" rtlCol="0">
            <a:spAutoFit/>
          </a:bodyPr>
          <a:lstStyle/>
          <a:p>
            <a:pPr marL="334010" indent="-321310">
              <a:lnSpc>
                <a:spcPct val="100000"/>
              </a:lnSpc>
              <a:spcBef>
                <a:spcPts val="1295"/>
              </a:spcBef>
              <a:buSzPct val="45833"/>
              <a:buFont typeface="Calibri"/>
              <a:buChar char="●"/>
              <a:tabLst>
                <a:tab pos="334010" algn="l"/>
              </a:tabLst>
            </a:pPr>
            <a:r>
              <a:rPr sz="2400" spc="-10" dirty="0">
                <a:latin typeface="Times New Roman"/>
                <a:cs typeface="Times New Roman"/>
              </a:rPr>
              <a:t>Abstract</a:t>
            </a:r>
            <a:endParaRPr sz="2400" dirty="0">
              <a:latin typeface="Times New Roman"/>
              <a:cs typeface="Times New Roman"/>
            </a:endParaRPr>
          </a:p>
          <a:p>
            <a:pPr marL="334010" indent="-321310">
              <a:lnSpc>
                <a:spcPct val="100000"/>
              </a:lnSpc>
              <a:spcBef>
                <a:spcPts val="1190"/>
              </a:spcBef>
              <a:buSzPct val="45833"/>
              <a:buFont typeface="Calibri"/>
              <a:buChar char="●"/>
              <a:tabLst>
                <a:tab pos="334010" algn="l"/>
              </a:tabLst>
            </a:pPr>
            <a:r>
              <a:rPr sz="2400" spc="-10" dirty="0">
                <a:latin typeface="Times New Roman"/>
                <a:cs typeface="Times New Roman"/>
              </a:rPr>
              <a:t>Introduction</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spc="-10" dirty="0">
                <a:latin typeface="Times New Roman"/>
                <a:cs typeface="Times New Roman"/>
              </a:rPr>
              <a:t>Motivation</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spc="-10" dirty="0">
                <a:latin typeface="Times New Roman"/>
                <a:cs typeface="Times New Roman"/>
              </a:rPr>
              <a:t>Objectives</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dirty="0">
                <a:latin typeface="Times New Roman"/>
                <a:cs typeface="Times New Roman"/>
              </a:rPr>
              <a:t>Research</a:t>
            </a:r>
            <a:r>
              <a:rPr sz="2400" spc="-15" dirty="0">
                <a:latin typeface="Times New Roman"/>
                <a:cs typeface="Times New Roman"/>
              </a:rPr>
              <a:t> </a:t>
            </a:r>
            <a:r>
              <a:rPr sz="2400" spc="-25" dirty="0">
                <a:latin typeface="Times New Roman"/>
                <a:cs typeface="Times New Roman"/>
              </a:rPr>
              <a:t>Gap</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dirty="0">
                <a:latin typeface="Times New Roman"/>
                <a:cs typeface="Times New Roman"/>
              </a:rPr>
              <a:t>Problem</a:t>
            </a:r>
            <a:r>
              <a:rPr sz="2400" spc="-15" dirty="0">
                <a:latin typeface="Times New Roman"/>
                <a:cs typeface="Times New Roman"/>
              </a:rPr>
              <a:t> </a:t>
            </a:r>
            <a:r>
              <a:rPr sz="2400" spc="-10" dirty="0">
                <a:latin typeface="Times New Roman"/>
                <a:cs typeface="Times New Roman"/>
              </a:rPr>
              <a:t>Definition</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spc="-10" dirty="0">
                <a:latin typeface="Times New Roman"/>
                <a:cs typeface="Times New Roman"/>
              </a:rPr>
              <a:t>Scope</a:t>
            </a:r>
            <a:endParaRPr sz="2400" dirty="0">
              <a:latin typeface="Times New Roman"/>
              <a:cs typeface="Times New Roman"/>
            </a:endParaRPr>
          </a:p>
          <a:p>
            <a:pPr marL="334010" indent="-321310">
              <a:lnSpc>
                <a:spcPct val="100000"/>
              </a:lnSpc>
              <a:spcBef>
                <a:spcPts val="1205"/>
              </a:spcBef>
              <a:buSzPct val="45833"/>
              <a:buFont typeface="Calibri"/>
              <a:buChar char="●"/>
              <a:tabLst>
                <a:tab pos="334010" algn="l"/>
              </a:tabLst>
            </a:pPr>
            <a:r>
              <a:rPr sz="2400" dirty="0">
                <a:latin typeface="Times New Roman"/>
                <a:cs typeface="Times New Roman"/>
              </a:rPr>
              <a:t>Technological</a:t>
            </a:r>
            <a:r>
              <a:rPr sz="2400" spc="-30" dirty="0">
                <a:latin typeface="Times New Roman"/>
                <a:cs typeface="Times New Roman"/>
              </a:rPr>
              <a:t> </a:t>
            </a:r>
            <a:r>
              <a:rPr sz="2400" spc="-10" dirty="0">
                <a:latin typeface="Times New Roman"/>
                <a:cs typeface="Times New Roman"/>
              </a:rPr>
              <a:t>Stack</a:t>
            </a:r>
            <a:endParaRPr sz="2400" dirty="0">
              <a:latin typeface="Times New Roman"/>
              <a:cs typeface="Times New Roman"/>
            </a:endParaRPr>
          </a:p>
          <a:p>
            <a:pPr marL="334010" indent="-321310">
              <a:lnSpc>
                <a:spcPct val="100000"/>
              </a:lnSpc>
              <a:spcBef>
                <a:spcPts val="1185"/>
              </a:spcBef>
              <a:buSzPct val="45833"/>
              <a:buFont typeface="Calibri"/>
              <a:buChar char="●"/>
              <a:tabLst>
                <a:tab pos="334010" algn="l"/>
              </a:tabLst>
            </a:pPr>
            <a:r>
              <a:rPr sz="2400" spc="-10">
                <a:latin typeface="Times New Roman"/>
                <a:cs typeface="Times New Roman"/>
              </a:rPr>
              <a:t>Implementation</a:t>
            </a:r>
            <a:endParaRPr sz="2400" dirty="0">
              <a:latin typeface="Times New Roman"/>
              <a:cs typeface="Times New Roman"/>
            </a:endParaRPr>
          </a:p>
          <a:p>
            <a:pPr marL="334010" indent="-321310">
              <a:lnSpc>
                <a:spcPct val="100000"/>
              </a:lnSpc>
              <a:spcBef>
                <a:spcPts val="1205"/>
              </a:spcBef>
              <a:buSzPct val="45833"/>
              <a:buFont typeface="Calibri"/>
              <a:buChar char="●"/>
              <a:tabLst>
                <a:tab pos="334010" algn="l"/>
              </a:tabLst>
            </a:pPr>
            <a:r>
              <a:rPr sz="2400" spc="-10" dirty="0">
                <a:latin typeface="Times New Roman"/>
                <a:cs typeface="Times New Roman"/>
              </a:rPr>
              <a:t>Conclusion</a:t>
            </a:r>
            <a:endParaRPr sz="24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Abstract</a:t>
            </a:r>
          </a:p>
        </p:txBody>
      </p:sp>
      <p:sp>
        <p:nvSpPr>
          <p:cNvPr id="3" name="object 3"/>
          <p:cNvSpPr txBox="1"/>
          <p:nvPr/>
        </p:nvSpPr>
        <p:spPr>
          <a:xfrm>
            <a:off x="420117" y="1599057"/>
            <a:ext cx="6755384" cy="4642938"/>
          </a:xfrm>
          <a:prstGeom prst="rect">
            <a:avLst/>
          </a:prstGeom>
        </p:spPr>
        <p:txBody>
          <a:bodyPr vert="horz" wrap="square" lIns="0" tIns="13335" rIns="0" bIns="0" rtlCol="0">
            <a:spAutoFit/>
          </a:bodyPr>
          <a:lstStyle/>
          <a:p>
            <a:pPr algn="just"/>
            <a:endParaRPr lang="en-US" sz="20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HybridMusicRec system is a music recommendation application that suggests songs to users based on their listening preferences and audio characteristics of songs. The system uses Collaborative Filtering to find users with similar taste and Content-Based Filtering to analyze audio features such as danceability, energy, tempo, and valence. Cosine similarity is used to identify both similar users and musically similar songs. The model is trained using Python and </a:t>
            </a:r>
            <a:r>
              <a:rPr lang="en-US" sz="2000" dirty="0" err="1">
                <a:latin typeface="Times New Roman" panose="02020603050405020304" pitchFamily="18" charset="0"/>
                <a:cs typeface="Times New Roman" panose="02020603050405020304" pitchFamily="18" charset="0"/>
              </a:rPr>
              <a:t>Scikit</a:t>
            </a:r>
            <a:r>
              <a:rPr lang="en-US" sz="2000" dirty="0">
                <a:latin typeface="Times New Roman" panose="02020603050405020304" pitchFamily="18" charset="0"/>
                <a:cs typeface="Times New Roman" panose="02020603050405020304" pitchFamily="18" charset="0"/>
              </a:rPr>
              <a:t>-learn on a dataset of 2000 songs and 300 users, and a weighted hybrid formula combines both approaches to generate final recommendations. A web interface built with HTML, CSS, JavaScript, and Flask allows users to discover personalized song recommendations in real time.</a:t>
            </a:r>
          </a:p>
          <a:p>
            <a:pPr marL="12700" marR="5080" algn="just">
              <a:lnSpc>
                <a:spcPct val="100000"/>
              </a:lnSpc>
              <a:spcBef>
                <a:spcPts val="105"/>
              </a:spcBef>
            </a:pP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Introduction</a:t>
            </a:r>
          </a:p>
        </p:txBody>
      </p:sp>
      <p:sp>
        <p:nvSpPr>
          <p:cNvPr id="3" name="object 3"/>
          <p:cNvSpPr txBox="1"/>
          <p:nvPr/>
        </p:nvSpPr>
        <p:spPr>
          <a:xfrm>
            <a:off x="490524" y="1647825"/>
            <a:ext cx="9099550" cy="4732706"/>
          </a:xfrm>
          <a:prstGeom prst="rect">
            <a:avLst/>
          </a:prstGeom>
        </p:spPr>
        <p:txBody>
          <a:bodyPr vert="horz" wrap="square" lIns="0" tIns="13335" rIns="0" bIns="0" rtlCol="0">
            <a:spAutoFit/>
          </a:bodyPr>
          <a:lstStyle/>
          <a:p>
            <a:pPr marL="355600" indent="-342900" algn="just">
              <a:lnSpc>
                <a:spcPct val="100000"/>
              </a:lnSpc>
              <a:spcBef>
                <a:spcPts val="105"/>
              </a:spcBef>
              <a:buFont typeface="Arial MT"/>
              <a:buChar char="•"/>
              <a:tabLst>
                <a:tab pos="355600" algn="l"/>
              </a:tabLst>
            </a:pPr>
            <a:r>
              <a:rPr lang="en-US" sz="2000" dirty="0">
                <a:latin typeface="Times New Roman" panose="02020603050405020304" pitchFamily="18" charset="0"/>
                <a:cs typeface="Times New Roman" panose="02020603050405020304" pitchFamily="18" charset="0"/>
              </a:rPr>
              <a:t>The HybridMusicRec system is designed to suggest songs to users based on both their rating history and the audio characteristics of songs.</a:t>
            </a:r>
          </a:p>
          <a:p>
            <a:pPr marL="355600" indent="-342900" algn="just">
              <a:lnSpc>
                <a:spcPct val="100000"/>
              </a:lnSpc>
              <a:spcBef>
                <a:spcPts val="105"/>
              </a:spcBef>
              <a:buFont typeface="Arial MT"/>
              <a:buChar char="•"/>
              <a:tabLst>
                <a:tab pos="355600" algn="l"/>
              </a:tabLst>
            </a:pPr>
            <a:endParaRPr lang="en-US" sz="2000" dirty="0">
              <a:latin typeface="Times New Roman" panose="02020603050405020304" pitchFamily="18" charset="0"/>
              <a:cs typeface="Times New Roman" panose="02020603050405020304" pitchFamily="18" charset="0"/>
            </a:endParaRPr>
          </a:p>
          <a:p>
            <a:pPr marL="355600" indent="-342900" algn="just">
              <a:lnSpc>
                <a:spcPct val="100000"/>
              </a:lnSpc>
              <a:spcBef>
                <a:spcPts val="105"/>
              </a:spcBef>
              <a:buFont typeface="Arial MT"/>
              <a:buChar char="•"/>
              <a:tabLst>
                <a:tab pos="355600" algn="l"/>
              </a:tabLst>
            </a:pPr>
            <a:r>
              <a:rPr lang="en-US" sz="2000" dirty="0">
                <a:latin typeface="Times New Roman" panose="02020603050405020304" pitchFamily="18" charset="0"/>
                <a:cs typeface="Times New Roman" panose="02020603050405020304" pitchFamily="18" charset="0"/>
              </a:rPr>
              <a:t>The system uses Collaborative Filtering to identify users with similar music taste and recommend songs that those similar users have liked.</a:t>
            </a:r>
          </a:p>
          <a:p>
            <a:pPr marL="355600" indent="-342900" algn="just">
              <a:lnSpc>
                <a:spcPct val="100000"/>
              </a:lnSpc>
              <a:spcBef>
                <a:spcPts val="105"/>
              </a:spcBef>
              <a:buFont typeface="Arial MT"/>
              <a:buChar char="•"/>
              <a:tabLst>
                <a:tab pos="355600" algn="l"/>
              </a:tabLst>
            </a:pPr>
            <a:endParaRPr lang="en-US" sz="2000" dirty="0">
              <a:latin typeface="Times New Roman" panose="02020603050405020304" pitchFamily="18" charset="0"/>
              <a:cs typeface="Times New Roman" panose="02020603050405020304" pitchFamily="18" charset="0"/>
            </a:endParaRPr>
          </a:p>
          <a:p>
            <a:pPr marL="355600" indent="-342900" algn="just">
              <a:lnSpc>
                <a:spcPct val="100000"/>
              </a:lnSpc>
              <a:spcBef>
                <a:spcPts val="105"/>
              </a:spcBef>
              <a:buFont typeface="Arial MT"/>
              <a:buChar char="•"/>
              <a:tabLst>
                <a:tab pos="355600" algn="l"/>
              </a:tabLst>
            </a:pPr>
            <a:r>
              <a:rPr lang="en-US" sz="2000" dirty="0">
                <a:latin typeface="Times New Roman" panose="02020603050405020304" pitchFamily="18" charset="0"/>
                <a:cs typeface="Times New Roman" panose="02020603050405020304" pitchFamily="18" charset="0"/>
              </a:rPr>
              <a:t>Content-Based Filtering is applied to analyze 9 audio features of each song and find musically similar tracks using cosine similarity on normalized feature vectors.</a:t>
            </a:r>
          </a:p>
          <a:p>
            <a:pPr marL="355600" indent="-342900" algn="just">
              <a:lnSpc>
                <a:spcPct val="100000"/>
              </a:lnSpc>
              <a:spcBef>
                <a:spcPts val="105"/>
              </a:spcBef>
              <a:buFont typeface="Arial MT"/>
              <a:buChar char="•"/>
              <a:tabLst>
                <a:tab pos="355600" algn="l"/>
              </a:tabLst>
            </a:pPr>
            <a:endParaRPr lang="en-US" sz="2000" dirty="0">
              <a:latin typeface="Times New Roman" panose="02020603050405020304" pitchFamily="18" charset="0"/>
              <a:cs typeface="Times New Roman" panose="02020603050405020304" pitchFamily="18" charset="0"/>
            </a:endParaRPr>
          </a:p>
          <a:p>
            <a:pPr marL="355600" indent="-342900" algn="just">
              <a:lnSpc>
                <a:spcPct val="100000"/>
              </a:lnSpc>
              <a:spcBef>
                <a:spcPts val="105"/>
              </a:spcBef>
              <a:buFont typeface="Arial MT"/>
              <a:buChar char="•"/>
              <a:tabLst>
                <a:tab pos="355600" algn="l"/>
              </a:tabLst>
            </a:pPr>
            <a:r>
              <a:rPr lang="en-US" sz="2000" dirty="0">
                <a:latin typeface="Times New Roman" panose="02020603050405020304" pitchFamily="18" charset="0"/>
                <a:cs typeface="Times New Roman" panose="02020603050405020304" pitchFamily="18" charset="0"/>
              </a:rPr>
              <a:t>A hybrid approach combines both methods using the formula: Final Score = α × CF + (1−α) × CB, where alpha is adjustable by the user.</a:t>
            </a:r>
          </a:p>
          <a:p>
            <a:pPr marL="355600" indent="-342900" algn="just">
              <a:lnSpc>
                <a:spcPct val="100000"/>
              </a:lnSpc>
              <a:spcBef>
                <a:spcPts val="105"/>
              </a:spcBef>
              <a:buFont typeface="Arial MT"/>
              <a:buChar char="•"/>
              <a:tabLst>
                <a:tab pos="355600" algn="l"/>
              </a:tabLst>
            </a:pPr>
            <a:endParaRPr lang="en-US" sz="2000" dirty="0">
              <a:latin typeface="Times New Roman" panose="02020603050405020304" pitchFamily="18" charset="0"/>
              <a:cs typeface="Times New Roman" panose="02020603050405020304" pitchFamily="18" charset="0"/>
            </a:endParaRPr>
          </a:p>
          <a:p>
            <a:pPr marL="355600" indent="-342900" algn="just">
              <a:lnSpc>
                <a:spcPct val="100000"/>
              </a:lnSpc>
              <a:spcBef>
                <a:spcPts val="105"/>
              </a:spcBef>
              <a:buFont typeface="Arial MT"/>
              <a:buChar char="•"/>
              <a:tabLst>
                <a:tab pos="355600" algn="l"/>
              </a:tabLst>
            </a:pPr>
            <a:r>
              <a:rPr lang="en-US" sz="2000" dirty="0">
                <a:latin typeface="Times New Roman" panose="02020603050405020304" pitchFamily="18" charset="0"/>
                <a:cs typeface="Times New Roman" panose="02020603050405020304" pitchFamily="18" charset="0"/>
              </a:rPr>
              <a:t>The application integrates a Python Flask backend with an HTML, CSS, and JavaScript frontend to provide real-time song recommendations and evaluation insights to users.</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Motivation</a:t>
            </a:r>
          </a:p>
        </p:txBody>
      </p:sp>
      <p:sp>
        <p:nvSpPr>
          <p:cNvPr id="3" name="object 3"/>
          <p:cNvSpPr txBox="1"/>
          <p:nvPr/>
        </p:nvSpPr>
        <p:spPr>
          <a:xfrm>
            <a:off x="490524" y="1647825"/>
            <a:ext cx="9097010" cy="4732706"/>
          </a:xfrm>
          <a:prstGeom prst="rect">
            <a:avLst/>
          </a:prstGeom>
        </p:spPr>
        <p:txBody>
          <a:bodyPr vert="horz" wrap="square" lIns="0" tIns="13335" rIns="0" bIns="0" rtlCol="0">
            <a:spAutoFit/>
          </a:bodyPr>
          <a:lstStyle/>
          <a:p>
            <a:pPr marL="352425" indent="-339725" algn="just">
              <a:lnSpc>
                <a:spcPct val="100000"/>
              </a:lnSpc>
              <a:spcBef>
                <a:spcPts val="105"/>
              </a:spcBef>
              <a:buFont typeface="Arial MT"/>
              <a:buChar char="•"/>
              <a:tabLst>
                <a:tab pos="352425" algn="l"/>
              </a:tabLst>
            </a:pPr>
            <a:r>
              <a:rPr lang="en-US" sz="2000" dirty="0">
                <a:latin typeface="Times New Roman" panose="02020603050405020304" pitchFamily="18" charset="0"/>
                <a:cs typeface="Times New Roman" panose="02020603050405020304" pitchFamily="18" charset="0"/>
              </a:rPr>
              <a:t>Many music listeners find it difficult to discover new songs that match their personal taste from the millions of tracks available on streaming platforms.</a:t>
            </a:r>
          </a:p>
          <a:p>
            <a:pPr marL="352425" indent="-339725" algn="just">
              <a:lnSpc>
                <a:spcPct val="100000"/>
              </a:lnSpc>
              <a:spcBef>
                <a:spcPts val="105"/>
              </a:spcBef>
              <a:buFont typeface="Arial MT"/>
              <a:buChar char="•"/>
              <a:tabLst>
                <a:tab pos="352425" algn="l"/>
              </a:tabLst>
            </a:pPr>
            <a:endParaRPr lang="en-US" sz="2000" dirty="0">
              <a:latin typeface="Times New Roman" panose="02020603050405020304" pitchFamily="18" charset="0"/>
              <a:cs typeface="Times New Roman" panose="02020603050405020304" pitchFamily="18" charset="0"/>
            </a:endParaRPr>
          </a:p>
          <a:p>
            <a:pPr marL="352425" indent="-339725" algn="just">
              <a:lnSpc>
                <a:spcPct val="100000"/>
              </a:lnSpc>
              <a:spcBef>
                <a:spcPts val="105"/>
              </a:spcBef>
              <a:buFont typeface="Arial MT"/>
              <a:buChar char="•"/>
              <a:tabLst>
                <a:tab pos="352425" algn="l"/>
              </a:tabLst>
            </a:pPr>
            <a:r>
              <a:rPr lang="en-US" sz="2000" dirty="0">
                <a:latin typeface="Times New Roman" panose="02020603050405020304" pitchFamily="18" charset="0"/>
                <a:cs typeface="Times New Roman" panose="02020603050405020304" pitchFamily="18" charset="0"/>
              </a:rPr>
              <a:t>Searching for music manually is time-consuming and does not adapt to the user's individual preferences or the actual sound characteristics of songs.</a:t>
            </a:r>
          </a:p>
          <a:p>
            <a:pPr marL="352425" indent="-339725" algn="just">
              <a:lnSpc>
                <a:spcPct val="100000"/>
              </a:lnSpc>
              <a:spcBef>
                <a:spcPts val="105"/>
              </a:spcBef>
              <a:buFont typeface="Arial MT"/>
              <a:buChar char="•"/>
              <a:tabLst>
                <a:tab pos="352425" algn="l"/>
              </a:tabLst>
            </a:pPr>
            <a:endParaRPr lang="en-US" sz="2000" dirty="0">
              <a:latin typeface="Times New Roman" panose="02020603050405020304" pitchFamily="18" charset="0"/>
              <a:cs typeface="Times New Roman" panose="02020603050405020304" pitchFamily="18" charset="0"/>
            </a:endParaRPr>
          </a:p>
          <a:p>
            <a:pPr marL="352425" indent="-339725" algn="just">
              <a:lnSpc>
                <a:spcPct val="100000"/>
              </a:lnSpc>
              <a:spcBef>
                <a:spcPts val="105"/>
              </a:spcBef>
              <a:buFont typeface="Arial MT"/>
              <a:buChar char="•"/>
              <a:tabLst>
                <a:tab pos="352425" algn="l"/>
              </a:tabLst>
            </a:pPr>
            <a:r>
              <a:rPr lang="en-US" sz="2000" dirty="0">
                <a:latin typeface="Times New Roman" panose="02020603050405020304" pitchFamily="18" charset="0"/>
                <a:cs typeface="Times New Roman" panose="02020603050405020304" pitchFamily="18" charset="0"/>
              </a:rPr>
              <a:t>A hybrid recommendation system can help users discover relevant songs accurately by combining user behavior patterns and audio-level song similarities.</a:t>
            </a:r>
          </a:p>
          <a:p>
            <a:pPr marL="352425" indent="-339725" algn="just">
              <a:lnSpc>
                <a:spcPct val="100000"/>
              </a:lnSpc>
              <a:spcBef>
                <a:spcPts val="105"/>
              </a:spcBef>
              <a:buFont typeface="Arial MT"/>
              <a:buChar char="•"/>
              <a:tabLst>
                <a:tab pos="352425" algn="l"/>
              </a:tabLst>
            </a:pPr>
            <a:endParaRPr lang="en-US" sz="2000" dirty="0">
              <a:latin typeface="Times New Roman" panose="02020603050405020304" pitchFamily="18" charset="0"/>
              <a:cs typeface="Times New Roman" panose="02020603050405020304" pitchFamily="18" charset="0"/>
            </a:endParaRPr>
          </a:p>
          <a:p>
            <a:pPr marL="352425" indent="-339725" algn="just">
              <a:lnSpc>
                <a:spcPct val="100000"/>
              </a:lnSpc>
              <a:spcBef>
                <a:spcPts val="105"/>
              </a:spcBef>
              <a:buFont typeface="Arial MT"/>
              <a:buChar char="•"/>
              <a:tabLst>
                <a:tab pos="352425" algn="l"/>
              </a:tabLst>
            </a:pPr>
            <a:r>
              <a:rPr lang="en-US" sz="2000" dirty="0">
                <a:latin typeface="Times New Roman" panose="02020603050405020304" pitchFamily="18" charset="0"/>
                <a:cs typeface="Times New Roman" panose="02020603050405020304" pitchFamily="18" charset="0"/>
              </a:rPr>
              <a:t>Using Collaborative Filtering and Content-Based Filtering together overcomes the cold-start problem and the filter-bubble effect that affect single-approach systems.</a:t>
            </a:r>
          </a:p>
          <a:p>
            <a:pPr marL="352425" indent="-339725" algn="just">
              <a:lnSpc>
                <a:spcPct val="100000"/>
              </a:lnSpc>
              <a:spcBef>
                <a:spcPts val="105"/>
              </a:spcBef>
              <a:buFont typeface="Arial MT"/>
              <a:buChar char="•"/>
              <a:tabLst>
                <a:tab pos="352425" algn="l"/>
              </a:tabLst>
            </a:pPr>
            <a:endParaRPr lang="en-US" sz="2000" dirty="0">
              <a:latin typeface="Times New Roman" panose="02020603050405020304" pitchFamily="18" charset="0"/>
              <a:cs typeface="Times New Roman" panose="02020603050405020304" pitchFamily="18" charset="0"/>
            </a:endParaRPr>
          </a:p>
          <a:p>
            <a:pPr marL="352425" indent="-339725" algn="just">
              <a:lnSpc>
                <a:spcPct val="100000"/>
              </a:lnSpc>
              <a:spcBef>
                <a:spcPts val="105"/>
              </a:spcBef>
              <a:buFont typeface="Arial MT"/>
              <a:buChar char="•"/>
              <a:tabLst>
                <a:tab pos="352425" algn="l"/>
              </a:tabLst>
            </a:pPr>
            <a:r>
              <a:rPr lang="en-US" sz="2000" dirty="0">
                <a:latin typeface="Times New Roman" panose="02020603050405020304" pitchFamily="18" charset="0"/>
                <a:cs typeface="Times New Roman" panose="02020603050405020304" pitchFamily="18" charset="0"/>
              </a:rPr>
              <a:t>The project aims to develop a simple and intelligent system that helps users explore diverse and personalized music recommendations through an easy-to-use web interface.</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Objectives</a:t>
            </a:r>
          </a:p>
        </p:txBody>
      </p:sp>
      <p:sp>
        <p:nvSpPr>
          <p:cNvPr id="3" name="object 3"/>
          <p:cNvSpPr txBox="1"/>
          <p:nvPr/>
        </p:nvSpPr>
        <p:spPr>
          <a:xfrm>
            <a:off x="581964" y="1746326"/>
            <a:ext cx="9097010" cy="5566267"/>
          </a:xfrm>
          <a:prstGeom prst="rect">
            <a:avLst/>
          </a:prstGeom>
        </p:spPr>
        <p:txBody>
          <a:bodyPr vert="horz" wrap="square" lIns="0" tIns="13335" rIns="0" bIns="0"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develop a hybrid music recommendation system that suggests songs based on user preferences and audio characteristics of songs.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implement Collaborative Filtering using cosine similarity on a user-item rating matrix to identify similar users and recommend songs.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implement Content-Based Filtering by analyzing audio features such as danceability, energy, tempo, and valence to find musically similar songs.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combine both approaches using a weighted hybrid formula where the balance between Collaborative and Content-Based filtering is adjustable by the user.</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integrate the trained recommendation model with a Flask backend and a web-based interface using HTML, CSS, and JavaScript for real-time song recommendations.</a:t>
            </a:r>
          </a:p>
          <a:p>
            <a:pPr marL="12700" algn="just">
              <a:lnSpc>
                <a:spcPct val="100000"/>
              </a:lnSpc>
              <a:spcBef>
                <a:spcPts val="105"/>
              </a:spcBef>
              <a:tabLst>
                <a:tab pos="355600" algn="l"/>
              </a:tabLst>
            </a:pPr>
            <a:br>
              <a:rPr lang="en-US" sz="2000" dirty="0"/>
            </a:br>
            <a:br>
              <a:rPr lang="en-US" sz="2000" dirty="0"/>
            </a:br>
            <a:endParaRPr sz="20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1594" rIns="0" bIns="0" rtlCol="0">
            <a:spAutoFit/>
          </a:bodyPr>
          <a:lstStyle/>
          <a:p>
            <a:pPr marL="12700" marR="5080" indent="114300">
              <a:lnSpc>
                <a:spcPts val="4020"/>
              </a:lnSpc>
              <a:spcBef>
                <a:spcPts val="484"/>
              </a:spcBef>
            </a:pPr>
            <a:r>
              <a:rPr dirty="0"/>
              <a:t>Research</a:t>
            </a:r>
            <a:r>
              <a:rPr spc="-35" dirty="0"/>
              <a:t> </a:t>
            </a:r>
            <a:r>
              <a:rPr dirty="0"/>
              <a:t>Gap(Limitations</a:t>
            </a:r>
            <a:r>
              <a:rPr spc="-30" dirty="0"/>
              <a:t> </a:t>
            </a:r>
            <a:r>
              <a:rPr dirty="0"/>
              <a:t>of</a:t>
            </a:r>
            <a:r>
              <a:rPr spc="-30" dirty="0"/>
              <a:t> </a:t>
            </a:r>
            <a:r>
              <a:rPr spc="-10" dirty="0"/>
              <a:t>existing systems)</a:t>
            </a:r>
          </a:p>
        </p:txBody>
      </p:sp>
      <p:sp>
        <p:nvSpPr>
          <p:cNvPr id="3" name="object 3"/>
          <p:cNvSpPr txBox="1"/>
          <p:nvPr/>
        </p:nvSpPr>
        <p:spPr>
          <a:xfrm>
            <a:off x="439318" y="1792300"/>
            <a:ext cx="8628380" cy="4642938"/>
          </a:xfrm>
          <a:prstGeom prst="rect">
            <a:avLst/>
          </a:prstGeom>
        </p:spPr>
        <p:txBody>
          <a:bodyPr vert="horz" wrap="square" lIns="0" tIns="13335" rIns="0" bIns="0"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Many existing music platforms rely only on Collaborative Filtering, which fails for new users who have no rating history due to the cold-start problem.</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Several systems do not use Content-Based approaches, resulting in less accurate recommendations that do not consider the actual audio characteristics of songs.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 recommendation systems depend heavily on user ratings or historical data, making it difficult to recommend songs to users with limited interaction history.</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systems often fail to combine multiple recommendation approaches, limiting their ability to provide both accurate and diverse song suggestions.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Many platforms lack a simple and interactive interface that allows users to control and tune the recommendation strategy in real time.</a:t>
            </a:r>
          </a:p>
          <a:p>
            <a:pPr marL="351790" marR="5080" indent="-339090" algn="just">
              <a:lnSpc>
                <a:spcPct val="100000"/>
              </a:lnSpc>
              <a:spcBef>
                <a:spcPts val="105"/>
              </a:spcBef>
              <a:buFont typeface="Arial MT"/>
              <a:buChar char="•"/>
              <a:tabLst>
                <a:tab pos="355600" algn="l"/>
              </a:tabLst>
            </a:pPr>
            <a:endParaRPr sz="2000" dirty="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30378" rIns="0" bIns="0" rtlCol="0">
            <a:spAutoFit/>
          </a:bodyPr>
          <a:lstStyle/>
          <a:p>
            <a:pPr marL="386715">
              <a:lnSpc>
                <a:spcPct val="100000"/>
              </a:lnSpc>
              <a:spcBef>
                <a:spcPts val="100"/>
              </a:spcBef>
            </a:pPr>
            <a:r>
              <a:rPr dirty="0"/>
              <a:t>Problem</a:t>
            </a:r>
            <a:r>
              <a:rPr spc="-140" dirty="0"/>
              <a:t> </a:t>
            </a:r>
            <a:r>
              <a:rPr spc="-10" dirty="0"/>
              <a:t>Definition</a:t>
            </a:r>
          </a:p>
        </p:txBody>
      </p:sp>
      <p:sp>
        <p:nvSpPr>
          <p:cNvPr id="3" name="object 3"/>
          <p:cNvSpPr txBox="1"/>
          <p:nvPr/>
        </p:nvSpPr>
        <p:spPr>
          <a:xfrm>
            <a:off x="622300" y="1724025"/>
            <a:ext cx="8349615" cy="5258491"/>
          </a:xfrm>
          <a:prstGeom prst="rect">
            <a:avLst/>
          </a:prstGeom>
        </p:spPr>
        <p:txBody>
          <a:bodyPr vert="horz" wrap="square" lIns="0" tIns="13335" rIns="0" bIns="0"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Many users struggle to discover new music that matches their personal taste from the large number of songs available on modern streaming platforms.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Collaborative Filtering alone fails for new users who have no rating history, making it impossible to find similar users and generate recommendations.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Content-Based Filtering alone keeps recommending songs that are too similar to what the user already knows, limiting music discovery and variety.</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 need for a system that can analyze both user behavior and audio characteristics of songs together to generate accurate and diverse recommendations.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Therefore this project aims to develop a hybrid music recommendation system that combines both approaches using a weighted formula and provides results through a simple interactive web interface.</a:t>
            </a:r>
          </a:p>
          <a:p>
            <a:pPr marL="330200" marR="5080" indent="-317500" algn="just">
              <a:lnSpc>
                <a:spcPct val="100000"/>
              </a:lnSpc>
              <a:spcBef>
                <a:spcPts val="105"/>
              </a:spcBef>
              <a:buFont typeface="Arial MT"/>
              <a:buChar char="•"/>
              <a:tabLst>
                <a:tab pos="332740" algn="l"/>
              </a:tabLst>
            </a:pPr>
            <a:endParaRPr sz="20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43078" rIns="0" bIns="0" rtlCol="0">
            <a:spAutoFit/>
          </a:bodyPr>
          <a:lstStyle/>
          <a:p>
            <a:pPr marL="578485">
              <a:lnSpc>
                <a:spcPct val="100000"/>
              </a:lnSpc>
              <a:spcBef>
                <a:spcPts val="100"/>
              </a:spcBef>
            </a:pPr>
            <a:r>
              <a:rPr spc="-10" dirty="0"/>
              <a:t>Scope</a:t>
            </a:r>
          </a:p>
        </p:txBody>
      </p:sp>
      <p:sp>
        <p:nvSpPr>
          <p:cNvPr id="3" name="object 3"/>
          <p:cNvSpPr txBox="1"/>
          <p:nvPr/>
        </p:nvSpPr>
        <p:spPr>
          <a:xfrm>
            <a:off x="464478" y="1724025"/>
            <a:ext cx="8347709" cy="5258491"/>
          </a:xfrm>
          <a:prstGeom prst="rect">
            <a:avLst/>
          </a:prstGeom>
        </p:spPr>
        <p:txBody>
          <a:bodyPr vert="horz" wrap="square" lIns="0" tIns="13335" rIns="0" bIns="0"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can recommend songs based on user rating history and audio features including danceability, energy, tempo, valence, </a:t>
            </a:r>
            <a:r>
              <a:rPr lang="en-US" sz="2000" dirty="0" err="1">
                <a:latin typeface="Times New Roman" panose="02020603050405020304" pitchFamily="18" charset="0"/>
                <a:cs typeface="Times New Roman" panose="02020603050405020304" pitchFamily="18" charset="0"/>
              </a:rPr>
              <a:t>acousticness</a:t>
            </a:r>
            <a:r>
              <a:rPr lang="en-US" sz="2000" dirty="0">
                <a:latin typeface="Times New Roman" panose="02020603050405020304" pitchFamily="18" charset="0"/>
                <a:cs typeface="Times New Roman" panose="02020603050405020304" pitchFamily="18" charset="0"/>
              </a:rPr>
              <a:t>, and loudness.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can be integrated with web applications or mobile platforms to provide real-time personalized song recommendations to users.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model can be extended by incorporating the real Spotify Tracks Dataset and additional features such as album art, track previews, and playlist creation.</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Future improvements may include personalized recommendations based on implicit feedback such as play counts and skip rates, or advanced models like Matrix Factorization.</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can be further enhanced by deploying on cloud platforms and integrating with live music APIs for real-world recommendation at scale.</a:t>
            </a:r>
          </a:p>
          <a:p>
            <a:pPr marL="332740" marR="5080" indent="-320040" algn="just">
              <a:lnSpc>
                <a:spcPct val="100000"/>
              </a:lnSpc>
              <a:spcBef>
                <a:spcPts val="105"/>
              </a:spcBef>
              <a:buSzPct val="70000"/>
              <a:buFont typeface="Arial MT"/>
              <a:buChar char="•"/>
              <a:tabLst>
                <a:tab pos="332740" algn="l"/>
              </a:tabLst>
            </a:pPr>
            <a:endParaRPr sz="2000" dirty="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Technological</a:t>
            </a:r>
            <a:r>
              <a:rPr spc="-110" dirty="0"/>
              <a:t> </a:t>
            </a:r>
            <a:r>
              <a:rPr spc="-10" dirty="0"/>
              <a:t>Stack</a:t>
            </a:r>
          </a:p>
        </p:txBody>
      </p:sp>
      <p:sp>
        <p:nvSpPr>
          <p:cNvPr id="3" name="object 3"/>
          <p:cNvSpPr txBox="1"/>
          <p:nvPr/>
        </p:nvSpPr>
        <p:spPr>
          <a:xfrm>
            <a:off x="490524" y="1343025"/>
            <a:ext cx="8442960" cy="6412653"/>
          </a:xfrm>
          <a:prstGeom prst="rect">
            <a:avLst/>
          </a:prstGeom>
        </p:spPr>
        <p:txBody>
          <a:bodyPr vert="horz" wrap="square" lIns="0" tIns="13335" rIns="0" bIns="0" rtlCol="0">
            <a:spAutoFit/>
          </a:bodyPr>
          <a:lstStyle/>
          <a:p>
            <a:pPr marL="299085" indent="-286385" algn="just">
              <a:lnSpc>
                <a:spcPct val="100000"/>
              </a:lnSpc>
              <a:spcBef>
                <a:spcPts val="105"/>
              </a:spcBef>
              <a:buFont typeface="Arial MT"/>
              <a:buChar char="•"/>
              <a:tabLst>
                <a:tab pos="299085" algn="l"/>
              </a:tabLst>
            </a:pPr>
            <a:r>
              <a:rPr lang="en-IN" sz="2000" b="1" dirty="0">
                <a:latin typeface="Times New Roman"/>
                <a:cs typeface="Times New Roman"/>
              </a:rPr>
              <a:t>Frontend: </a:t>
            </a:r>
            <a:r>
              <a:rPr lang="en-IN" sz="2000" dirty="0">
                <a:latin typeface="Times New Roman"/>
                <a:cs typeface="Times New Roman"/>
              </a:rPr>
              <a:t>HTML, CSS, JavaScript</a:t>
            </a:r>
          </a:p>
          <a:p>
            <a:pPr marL="299085" indent="-286385" algn="just">
              <a:lnSpc>
                <a:spcPct val="100000"/>
              </a:lnSpc>
              <a:spcBef>
                <a:spcPts val="105"/>
              </a:spcBef>
              <a:buFont typeface="Arial MT"/>
              <a:buChar char="•"/>
              <a:tabLst>
                <a:tab pos="299085" algn="l"/>
              </a:tabLst>
            </a:pPr>
            <a:endParaRPr lang="en-IN" sz="2000" b="1"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IN" sz="2000" b="1" dirty="0">
                <a:latin typeface="Times New Roman"/>
                <a:cs typeface="Times New Roman"/>
              </a:rPr>
              <a:t>Backend: </a:t>
            </a:r>
            <a:r>
              <a:rPr lang="en-IN" sz="2000" dirty="0">
                <a:latin typeface="Times New Roman"/>
                <a:cs typeface="Times New Roman"/>
              </a:rPr>
              <a:t>Python, Flask</a:t>
            </a:r>
          </a:p>
          <a:p>
            <a:pPr marL="299085" indent="-286385" algn="just">
              <a:lnSpc>
                <a:spcPct val="100000"/>
              </a:lnSpc>
              <a:spcBef>
                <a:spcPts val="105"/>
              </a:spcBef>
              <a:buFont typeface="Arial MT"/>
              <a:buChar char="•"/>
              <a:tabLst>
                <a:tab pos="299085" algn="l"/>
              </a:tabLst>
            </a:pPr>
            <a:endParaRPr lang="en-IN" sz="2000" b="1"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IN" sz="2000" b="1" dirty="0">
                <a:latin typeface="Times New Roman"/>
                <a:cs typeface="Times New Roman"/>
              </a:rPr>
              <a:t>Machine Learning: </a:t>
            </a:r>
            <a:r>
              <a:rPr lang="en-US" sz="2000" dirty="0">
                <a:latin typeface="Times New Roman" panose="02020603050405020304" pitchFamily="18" charset="0"/>
                <a:cs typeface="Times New Roman" panose="02020603050405020304" pitchFamily="18" charset="0"/>
              </a:rPr>
              <a:t>Collaborative Filtering and Content-Based Filtering</a:t>
            </a:r>
            <a:endParaRPr lang="en-IN" sz="2000" dirty="0">
              <a:latin typeface="Times New Roman" panose="02020603050405020304" pitchFamily="18" charset="0"/>
              <a:cs typeface="Times New Roman" panose="02020603050405020304" pitchFamily="18" charset="0"/>
            </a:endParaRPr>
          </a:p>
          <a:p>
            <a:pPr marL="299085" indent="-286385" algn="just">
              <a:lnSpc>
                <a:spcPct val="100000"/>
              </a:lnSpc>
              <a:spcBef>
                <a:spcPts val="105"/>
              </a:spcBef>
              <a:buFont typeface="Arial MT"/>
              <a:buChar char="•"/>
              <a:tabLst>
                <a:tab pos="299085" algn="l"/>
              </a:tabLst>
            </a:pPr>
            <a:endParaRPr lang="en-IN" sz="2000" b="1"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IN" sz="2000" b="1" dirty="0">
                <a:latin typeface="Times New Roman"/>
                <a:cs typeface="Times New Roman"/>
              </a:rPr>
              <a:t>Recommendation Method: </a:t>
            </a:r>
            <a:r>
              <a:rPr lang="en-IN" sz="2000" dirty="0">
                <a:latin typeface="Times New Roman" panose="02020603050405020304" pitchFamily="18" charset="0"/>
                <a:cs typeface="Times New Roman" panose="02020603050405020304" pitchFamily="18" charset="0"/>
              </a:rPr>
              <a:t>Hybrid Approach (Weighted Combination)</a:t>
            </a:r>
          </a:p>
          <a:p>
            <a:pPr marL="299085" indent="-286385" algn="just">
              <a:lnSpc>
                <a:spcPct val="100000"/>
              </a:lnSpc>
              <a:spcBef>
                <a:spcPts val="105"/>
              </a:spcBef>
              <a:buFont typeface="Arial MT"/>
              <a:buChar char="•"/>
              <a:tabLst>
                <a:tab pos="299085" algn="l"/>
              </a:tabLst>
            </a:pPr>
            <a:endParaRPr lang="en-IN" sz="2000" b="1"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IN" sz="2000" b="1" dirty="0">
                <a:latin typeface="Times New Roman"/>
                <a:cs typeface="Times New Roman"/>
              </a:rPr>
              <a:t>Similarity Algorithm: </a:t>
            </a:r>
            <a:r>
              <a:rPr lang="en-IN" sz="2000" dirty="0">
                <a:latin typeface="Times New Roman"/>
                <a:cs typeface="Times New Roman"/>
              </a:rPr>
              <a:t>Cosine Similarity</a:t>
            </a:r>
          </a:p>
          <a:p>
            <a:pPr marL="12700" algn="just">
              <a:lnSpc>
                <a:spcPct val="100000"/>
              </a:lnSpc>
              <a:spcBef>
                <a:spcPts val="105"/>
              </a:spcBef>
              <a:tabLst>
                <a:tab pos="299085" algn="l"/>
              </a:tabLst>
            </a:pPr>
            <a:endParaRPr lang="en-IN" sz="2000"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IN" sz="2000" b="1" dirty="0">
                <a:latin typeface="Times New Roman"/>
                <a:cs typeface="Times New Roman"/>
              </a:rPr>
              <a:t>Data Processing: </a:t>
            </a:r>
            <a:r>
              <a:rPr lang="en-IN" sz="2000" dirty="0">
                <a:latin typeface="Times New Roman"/>
                <a:cs typeface="Times New Roman"/>
              </a:rPr>
              <a:t>Pandas, NumPy, MinMaxScaler(Scikit-learn)</a:t>
            </a:r>
          </a:p>
          <a:p>
            <a:pPr marL="299085" indent="-286385" algn="just">
              <a:lnSpc>
                <a:spcPct val="100000"/>
              </a:lnSpc>
              <a:spcBef>
                <a:spcPts val="105"/>
              </a:spcBef>
              <a:buFont typeface="Arial MT"/>
              <a:buChar char="•"/>
              <a:tabLst>
                <a:tab pos="299085" algn="l"/>
              </a:tabLst>
            </a:pPr>
            <a:endParaRPr lang="en-IN" sz="2000"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IN" sz="2000" b="1" dirty="0">
                <a:latin typeface="Times New Roman"/>
                <a:cs typeface="Times New Roman"/>
              </a:rPr>
              <a:t>Model Training Environment: </a:t>
            </a:r>
            <a:r>
              <a:rPr lang="en-IN" sz="2000" dirty="0">
                <a:latin typeface="Times New Roman"/>
                <a:cs typeface="Times New Roman"/>
              </a:rPr>
              <a:t>Google Colab</a:t>
            </a:r>
          </a:p>
          <a:p>
            <a:pPr marL="299085" indent="-286385" algn="just">
              <a:lnSpc>
                <a:spcPct val="100000"/>
              </a:lnSpc>
              <a:spcBef>
                <a:spcPts val="105"/>
              </a:spcBef>
              <a:buFont typeface="Arial MT"/>
              <a:buChar char="•"/>
              <a:tabLst>
                <a:tab pos="299085" algn="l"/>
              </a:tabLst>
            </a:pPr>
            <a:endParaRPr lang="en-IN" sz="2000"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IN" sz="2000" b="1" dirty="0">
                <a:latin typeface="Times New Roman"/>
                <a:cs typeface="Times New Roman"/>
              </a:rPr>
              <a:t>Model Storage: </a:t>
            </a:r>
            <a:r>
              <a:rPr lang="en-US" sz="2000" dirty="0">
                <a:latin typeface="Times New Roman" panose="02020603050405020304" pitchFamily="18" charset="0"/>
                <a:cs typeface="Times New Roman" panose="02020603050405020304" pitchFamily="18" charset="0"/>
              </a:rPr>
              <a:t>In-memory similarity matrices precomputed at server startup</a:t>
            </a:r>
            <a:endParaRPr lang="en-IN" sz="2000" dirty="0">
              <a:latin typeface="Times New Roman" panose="02020603050405020304" pitchFamily="18" charset="0"/>
              <a:cs typeface="Times New Roman" panose="02020603050405020304" pitchFamily="18" charset="0"/>
            </a:endParaRPr>
          </a:p>
          <a:p>
            <a:pPr marL="299085" indent="-286385" algn="just">
              <a:lnSpc>
                <a:spcPct val="100000"/>
              </a:lnSpc>
              <a:spcBef>
                <a:spcPts val="105"/>
              </a:spcBef>
              <a:buFont typeface="Arial MT"/>
              <a:buChar char="•"/>
              <a:tabLst>
                <a:tab pos="299085" algn="l"/>
              </a:tabLst>
            </a:pPr>
            <a:endParaRPr lang="en-IN" sz="2000"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IN" sz="2000" b="1" dirty="0">
                <a:latin typeface="Times New Roman"/>
                <a:cs typeface="Times New Roman"/>
              </a:rPr>
              <a:t>API Communication: </a:t>
            </a:r>
            <a:r>
              <a:rPr lang="en-IN" sz="2000" dirty="0">
                <a:latin typeface="Times New Roman"/>
                <a:cs typeface="Times New Roman"/>
              </a:rPr>
              <a:t>REST API using Flask and Fetch API (JavaScript)</a:t>
            </a:r>
          </a:p>
          <a:p>
            <a:pPr marL="299085" indent="-286385" algn="just">
              <a:lnSpc>
                <a:spcPct val="100000"/>
              </a:lnSpc>
              <a:spcBef>
                <a:spcPts val="105"/>
              </a:spcBef>
              <a:buFont typeface="Arial MT"/>
              <a:buChar char="•"/>
              <a:tabLst>
                <a:tab pos="299085" algn="l"/>
              </a:tabLst>
            </a:pPr>
            <a:endParaRPr lang="en-IN" sz="2000" dirty="0">
              <a:latin typeface="Times New Roman"/>
              <a:cs typeface="Times New Roman"/>
            </a:endParaRPr>
          </a:p>
          <a:p>
            <a:pPr marL="299085" indent="-286385" algn="just">
              <a:lnSpc>
                <a:spcPct val="100000"/>
              </a:lnSpc>
              <a:spcBef>
                <a:spcPts val="105"/>
              </a:spcBef>
              <a:buFont typeface="Arial MT"/>
              <a:buChar char="•"/>
              <a:tabLst>
                <a:tab pos="299085" algn="l"/>
              </a:tabLst>
            </a:pPr>
            <a:r>
              <a:rPr lang="en-US" sz="2000" b="1" dirty="0">
                <a:latin typeface="Times New Roman" panose="02020603050405020304" pitchFamily="18" charset="0"/>
                <a:cs typeface="Times New Roman" panose="02020603050405020304" pitchFamily="18" charset="0"/>
              </a:rPr>
              <a:t>Visualization:</a:t>
            </a:r>
            <a:r>
              <a:rPr lang="en-US" sz="2000" dirty="0">
                <a:latin typeface="Times New Roman" panose="02020603050405020304" pitchFamily="18" charset="0"/>
                <a:cs typeface="Times New Roman" panose="02020603050405020304" pitchFamily="18" charset="0"/>
              </a:rPr>
              <a:t> Chart.js for bar charts and radar charts</a:t>
            </a:r>
            <a:endParaRPr lang="en-IN" sz="2000" dirty="0">
              <a:latin typeface="Times New Roman" panose="02020603050405020304" pitchFamily="18" charset="0"/>
              <a:cs typeface="Times New Roman" panose="02020603050405020304" pitchFamily="18" charset="0"/>
            </a:endParaRPr>
          </a:p>
          <a:p>
            <a:pPr marL="299085" indent="-286385" algn="just">
              <a:lnSpc>
                <a:spcPct val="100000"/>
              </a:lnSpc>
              <a:spcBef>
                <a:spcPts val="105"/>
              </a:spcBef>
              <a:buFont typeface="Arial MT"/>
              <a:buChar char="•"/>
              <a:tabLst>
                <a:tab pos="299085" algn="l"/>
              </a:tabLst>
            </a:pPr>
            <a:endParaRPr lang="en-IN" sz="20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object 5"/>
          <p:cNvGrpSpPr/>
          <p:nvPr/>
        </p:nvGrpSpPr>
        <p:grpSpPr>
          <a:xfrm>
            <a:off x="5652387" y="-4762"/>
            <a:ext cx="4434205" cy="7569200"/>
            <a:chOff x="5652387" y="-4762"/>
            <a:chExt cx="4434205" cy="7569200"/>
          </a:xfrm>
        </p:grpSpPr>
        <p:sp>
          <p:nvSpPr>
            <p:cNvPr id="6" name="object 6"/>
            <p:cNvSpPr/>
            <p:nvPr/>
          </p:nvSpPr>
          <p:spPr>
            <a:xfrm>
              <a:off x="5657149" y="0"/>
              <a:ext cx="4424680" cy="7559675"/>
            </a:xfrm>
            <a:custGeom>
              <a:avLst/>
              <a:gdLst/>
              <a:ahLst/>
              <a:cxnLst/>
              <a:rect l="l" t="t" r="r" b="b"/>
              <a:pathLst>
                <a:path w="4424680" h="7559675">
                  <a:moveTo>
                    <a:pt x="0" y="7559040"/>
                  </a:moveTo>
                  <a:lnTo>
                    <a:pt x="4424110" y="4608028"/>
                  </a:lnTo>
                </a:path>
                <a:path w="4424680" h="7559675">
                  <a:moveTo>
                    <a:pt x="2107249" y="0"/>
                  </a:moveTo>
                  <a:lnTo>
                    <a:pt x="3450274" y="7559673"/>
                  </a:lnTo>
                </a:path>
              </a:pathLst>
            </a:custGeom>
            <a:ln w="9525">
              <a:solidFill>
                <a:srgbClr val="5FCAEE"/>
              </a:solidFill>
            </a:ln>
          </p:spPr>
          <p:txBody>
            <a:bodyPr wrap="square" lIns="0" tIns="0" rIns="0" bIns="0" rtlCol="0"/>
            <a:lstStyle/>
            <a:p>
              <a:endParaRPr/>
            </a:p>
          </p:txBody>
        </p:sp>
        <p:sp>
          <p:nvSpPr>
            <p:cNvPr id="7" name="object 7"/>
            <p:cNvSpPr/>
            <p:nvPr/>
          </p:nvSpPr>
          <p:spPr>
            <a:xfrm>
              <a:off x="7598019" y="0"/>
              <a:ext cx="2483485" cy="7559040"/>
            </a:xfrm>
            <a:custGeom>
              <a:avLst/>
              <a:gdLst/>
              <a:ahLst/>
              <a:cxnLst/>
              <a:rect l="l" t="t" r="r" b="b"/>
              <a:pathLst>
                <a:path w="2483484" h="7559040">
                  <a:moveTo>
                    <a:pt x="2230510" y="0"/>
                  </a:moveTo>
                  <a:lnTo>
                    <a:pt x="0" y="7559040"/>
                  </a:lnTo>
                  <a:lnTo>
                    <a:pt x="2483240" y="7559040"/>
                  </a:lnTo>
                  <a:lnTo>
                    <a:pt x="2483240" y="8964"/>
                  </a:lnTo>
                  <a:lnTo>
                    <a:pt x="2230510" y="0"/>
                  </a:lnTo>
                  <a:close/>
                </a:path>
              </a:pathLst>
            </a:custGeom>
            <a:solidFill>
              <a:srgbClr val="5FCAEE">
                <a:alpha val="35293"/>
              </a:srgbClr>
            </a:solidFill>
          </p:spPr>
          <p:txBody>
            <a:bodyPr wrap="square" lIns="0" tIns="0" rIns="0" bIns="0" rtlCol="0"/>
            <a:lstStyle/>
            <a:p>
              <a:endParaRPr/>
            </a:p>
          </p:txBody>
        </p:sp>
        <p:sp>
          <p:nvSpPr>
            <p:cNvPr id="8" name="object 8"/>
            <p:cNvSpPr/>
            <p:nvPr/>
          </p:nvSpPr>
          <p:spPr>
            <a:xfrm>
              <a:off x="7943867" y="0"/>
              <a:ext cx="2137410" cy="7559040"/>
            </a:xfrm>
            <a:custGeom>
              <a:avLst/>
              <a:gdLst/>
              <a:ahLst/>
              <a:cxnLst/>
              <a:rect l="l" t="t" r="r" b="b"/>
              <a:pathLst>
                <a:path w="2137409" h="7559040">
                  <a:moveTo>
                    <a:pt x="2137392" y="0"/>
                  </a:moveTo>
                  <a:lnTo>
                    <a:pt x="0" y="0"/>
                  </a:lnTo>
                  <a:lnTo>
                    <a:pt x="1323846" y="7559040"/>
                  </a:lnTo>
                  <a:lnTo>
                    <a:pt x="2137392" y="7559040"/>
                  </a:lnTo>
                  <a:lnTo>
                    <a:pt x="2137392" y="0"/>
                  </a:lnTo>
                  <a:close/>
                </a:path>
              </a:pathLst>
            </a:custGeom>
            <a:solidFill>
              <a:srgbClr val="5FCAEE">
                <a:alpha val="19215"/>
              </a:srgbClr>
            </a:solidFill>
          </p:spPr>
          <p:txBody>
            <a:bodyPr wrap="square" lIns="0" tIns="0" rIns="0" bIns="0" rtlCol="0"/>
            <a:lstStyle/>
            <a:p>
              <a:endParaRPr/>
            </a:p>
          </p:txBody>
        </p:sp>
        <p:sp>
          <p:nvSpPr>
            <p:cNvPr id="9" name="object 9"/>
            <p:cNvSpPr/>
            <p:nvPr/>
          </p:nvSpPr>
          <p:spPr>
            <a:xfrm>
              <a:off x="7318916" y="4321324"/>
              <a:ext cx="2762885" cy="3237865"/>
            </a:xfrm>
            <a:custGeom>
              <a:avLst/>
              <a:gdLst/>
              <a:ahLst/>
              <a:cxnLst/>
              <a:rect l="l" t="t" r="r" b="b"/>
              <a:pathLst>
                <a:path w="2762884" h="3237865">
                  <a:moveTo>
                    <a:pt x="2762343" y="0"/>
                  </a:moveTo>
                  <a:lnTo>
                    <a:pt x="0" y="3237715"/>
                  </a:lnTo>
                  <a:lnTo>
                    <a:pt x="2762343" y="3237715"/>
                  </a:lnTo>
                  <a:lnTo>
                    <a:pt x="2762343" y="0"/>
                  </a:lnTo>
                  <a:close/>
                </a:path>
              </a:pathLst>
            </a:custGeom>
            <a:solidFill>
              <a:srgbClr val="17AFE3">
                <a:alpha val="65097"/>
              </a:srgbClr>
            </a:solidFill>
          </p:spPr>
          <p:txBody>
            <a:bodyPr wrap="square" lIns="0" tIns="0" rIns="0" bIns="0" rtlCol="0"/>
            <a:lstStyle/>
            <a:p>
              <a:endParaRPr/>
            </a:p>
          </p:txBody>
        </p:sp>
        <p:sp>
          <p:nvSpPr>
            <p:cNvPr id="10" name="object 10"/>
            <p:cNvSpPr/>
            <p:nvPr/>
          </p:nvSpPr>
          <p:spPr>
            <a:xfrm>
              <a:off x="7730525" y="0"/>
              <a:ext cx="2350770" cy="7559040"/>
            </a:xfrm>
            <a:custGeom>
              <a:avLst/>
              <a:gdLst/>
              <a:ahLst/>
              <a:cxnLst/>
              <a:rect l="l" t="t" r="r" b="b"/>
              <a:pathLst>
                <a:path w="2350770" h="7559040">
                  <a:moveTo>
                    <a:pt x="2350734" y="0"/>
                  </a:moveTo>
                  <a:lnTo>
                    <a:pt x="0" y="0"/>
                  </a:lnTo>
                  <a:lnTo>
                    <a:pt x="2043984" y="7559040"/>
                  </a:lnTo>
                  <a:lnTo>
                    <a:pt x="2065639" y="7559040"/>
                  </a:lnTo>
                  <a:lnTo>
                    <a:pt x="2350734" y="7550605"/>
                  </a:lnTo>
                  <a:lnTo>
                    <a:pt x="2350734" y="0"/>
                  </a:lnTo>
                  <a:close/>
                </a:path>
              </a:pathLst>
            </a:custGeom>
            <a:solidFill>
              <a:srgbClr val="17AFE3">
                <a:alpha val="49411"/>
              </a:srgbClr>
            </a:solidFill>
          </p:spPr>
          <p:txBody>
            <a:bodyPr wrap="square" lIns="0" tIns="0" rIns="0" bIns="0" rtlCol="0"/>
            <a:lstStyle/>
            <a:p>
              <a:endParaRPr/>
            </a:p>
          </p:txBody>
        </p:sp>
        <p:sp>
          <p:nvSpPr>
            <p:cNvPr id="11" name="object 11"/>
            <p:cNvSpPr/>
            <p:nvPr/>
          </p:nvSpPr>
          <p:spPr>
            <a:xfrm>
              <a:off x="9145586" y="0"/>
              <a:ext cx="935990" cy="7559040"/>
            </a:xfrm>
            <a:custGeom>
              <a:avLst/>
              <a:gdLst/>
              <a:ahLst/>
              <a:cxnLst/>
              <a:rect l="l" t="t" r="r" b="b"/>
              <a:pathLst>
                <a:path w="935990" h="7559040">
                  <a:moveTo>
                    <a:pt x="935673" y="0"/>
                  </a:moveTo>
                  <a:lnTo>
                    <a:pt x="744742" y="0"/>
                  </a:lnTo>
                  <a:lnTo>
                    <a:pt x="0" y="7559040"/>
                  </a:lnTo>
                  <a:lnTo>
                    <a:pt x="935673" y="7559040"/>
                  </a:lnTo>
                  <a:lnTo>
                    <a:pt x="935673" y="0"/>
                  </a:lnTo>
                  <a:close/>
                </a:path>
              </a:pathLst>
            </a:custGeom>
            <a:solidFill>
              <a:srgbClr val="2D83C3">
                <a:alpha val="69410"/>
              </a:srgbClr>
            </a:solidFill>
          </p:spPr>
          <p:txBody>
            <a:bodyPr wrap="square" lIns="0" tIns="0" rIns="0" bIns="0" rtlCol="0"/>
            <a:lstStyle/>
            <a:p>
              <a:endParaRPr/>
            </a:p>
          </p:txBody>
        </p:sp>
        <p:sp>
          <p:nvSpPr>
            <p:cNvPr id="12" name="object 12"/>
            <p:cNvSpPr/>
            <p:nvPr/>
          </p:nvSpPr>
          <p:spPr>
            <a:xfrm>
              <a:off x="8924576" y="0"/>
              <a:ext cx="1156970" cy="7559040"/>
            </a:xfrm>
            <a:custGeom>
              <a:avLst/>
              <a:gdLst/>
              <a:ahLst/>
              <a:cxnLst/>
              <a:rect l="l" t="t" r="r" b="b"/>
              <a:pathLst>
                <a:path w="1156970" h="7559040">
                  <a:moveTo>
                    <a:pt x="1156683" y="0"/>
                  </a:moveTo>
                  <a:lnTo>
                    <a:pt x="0" y="0"/>
                  </a:lnTo>
                  <a:lnTo>
                    <a:pt x="1033660" y="7559040"/>
                  </a:lnTo>
                  <a:lnTo>
                    <a:pt x="1156683" y="7559040"/>
                  </a:lnTo>
                  <a:lnTo>
                    <a:pt x="1156683" y="0"/>
                  </a:lnTo>
                  <a:close/>
                </a:path>
              </a:pathLst>
            </a:custGeom>
            <a:solidFill>
              <a:srgbClr val="226192">
                <a:alpha val="81175"/>
              </a:srgbClr>
            </a:solidFill>
          </p:spPr>
          <p:txBody>
            <a:bodyPr wrap="square" lIns="0" tIns="0" rIns="0" bIns="0" rtlCol="0"/>
            <a:lstStyle/>
            <a:p>
              <a:endParaRPr/>
            </a:p>
          </p:txBody>
        </p:sp>
        <p:sp>
          <p:nvSpPr>
            <p:cNvPr id="13" name="object 13"/>
            <p:cNvSpPr/>
            <p:nvPr/>
          </p:nvSpPr>
          <p:spPr>
            <a:xfrm>
              <a:off x="8895050" y="5420201"/>
              <a:ext cx="1186815" cy="2139315"/>
            </a:xfrm>
            <a:custGeom>
              <a:avLst/>
              <a:gdLst/>
              <a:ahLst/>
              <a:cxnLst/>
              <a:rect l="l" t="t" r="r" b="b"/>
              <a:pathLst>
                <a:path w="1186815" h="2139315">
                  <a:moveTo>
                    <a:pt x="1186209" y="0"/>
                  </a:moveTo>
                  <a:lnTo>
                    <a:pt x="0" y="2138838"/>
                  </a:lnTo>
                  <a:lnTo>
                    <a:pt x="136021" y="2138838"/>
                  </a:lnTo>
                  <a:lnTo>
                    <a:pt x="1186209" y="2133955"/>
                  </a:lnTo>
                  <a:lnTo>
                    <a:pt x="1186209" y="0"/>
                  </a:lnTo>
                  <a:close/>
                </a:path>
              </a:pathLst>
            </a:custGeom>
            <a:solidFill>
              <a:srgbClr val="17AFE3">
                <a:alpha val="65097"/>
              </a:srgbClr>
            </a:solidFill>
          </p:spPr>
          <p:txBody>
            <a:bodyPr wrap="square" lIns="0" tIns="0" rIns="0" bIns="0" rtlCol="0"/>
            <a:lstStyle/>
            <a:p>
              <a:endParaRPr/>
            </a:p>
          </p:txBody>
        </p:sp>
      </p:grpSp>
      <p:sp>
        <p:nvSpPr>
          <p:cNvPr id="14" name="object 14"/>
          <p:cNvSpPr txBox="1">
            <a:spLocks noGrp="1"/>
          </p:cNvSpPr>
          <p:nvPr>
            <p:ph type="title"/>
          </p:nvPr>
        </p:nvSpPr>
        <p:spPr>
          <a:xfrm>
            <a:off x="411042" y="276225"/>
            <a:ext cx="7421245" cy="1085850"/>
          </a:xfrm>
          <a:prstGeom prst="rect">
            <a:avLst/>
          </a:prstGeom>
        </p:spPr>
        <p:txBody>
          <a:bodyPr vert="horz" wrap="square" lIns="0" tIns="330378" rIns="0" bIns="0" rtlCol="0">
            <a:spAutoFit/>
          </a:bodyPr>
          <a:lstStyle/>
          <a:p>
            <a:pPr marL="272415">
              <a:lnSpc>
                <a:spcPct val="100000"/>
              </a:lnSpc>
              <a:spcBef>
                <a:spcPts val="100"/>
              </a:spcBef>
            </a:pPr>
            <a:r>
              <a:rPr spc="-10" dirty="0"/>
              <a:t>Implementation</a:t>
            </a:r>
          </a:p>
        </p:txBody>
      </p:sp>
      <p:sp>
        <p:nvSpPr>
          <p:cNvPr id="15" name="object 15"/>
          <p:cNvSpPr txBox="1"/>
          <p:nvPr/>
        </p:nvSpPr>
        <p:spPr>
          <a:xfrm>
            <a:off x="3745430" y="6693613"/>
            <a:ext cx="256730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a:cs typeface="Times New Roman"/>
              </a:rPr>
              <a:t>Figure</a:t>
            </a:r>
            <a:r>
              <a:rPr sz="2000" b="1" spc="-10" dirty="0">
                <a:latin typeface="Times New Roman"/>
                <a:cs typeface="Times New Roman"/>
              </a:rPr>
              <a:t> </a:t>
            </a:r>
            <a:r>
              <a:rPr sz="2000" b="1" dirty="0">
                <a:latin typeface="Times New Roman"/>
                <a:cs typeface="Times New Roman"/>
              </a:rPr>
              <a:t>1.</a:t>
            </a:r>
            <a:r>
              <a:rPr sz="2000" b="1" spc="-15" dirty="0">
                <a:latin typeface="Times New Roman"/>
                <a:cs typeface="Times New Roman"/>
              </a:rPr>
              <a:t> </a:t>
            </a:r>
            <a:r>
              <a:rPr lang="en-IN" sz="2000" b="1" spc="-15" dirty="0">
                <a:latin typeface="Times New Roman"/>
                <a:cs typeface="Times New Roman"/>
              </a:rPr>
              <a:t>Discover Page</a:t>
            </a:r>
            <a:endParaRPr sz="2000" dirty="0">
              <a:latin typeface="Times New Roman"/>
              <a:cs typeface="Times New Roman"/>
            </a:endParaRPr>
          </a:p>
        </p:txBody>
      </p:sp>
      <p:pic>
        <p:nvPicPr>
          <p:cNvPr id="2" name="Picture 1">
            <a:extLst>
              <a:ext uri="{FF2B5EF4-FFF2-40B4-BE49-F238E27FC236}">
                <a16:creationId xmlns:a16="http://schemas.microsoft.com/office/drawing/2014/main" id="{797ECCF4-66B0-4C8B-B285-3A7FDAA4288C}"/>
              </a:ext>
            </a:extLst>
          </p:cNvPr>
          <p:cNvPicPr>
            <a:picLocks noChangeAspect="1"/>
          </p:cNvPicPr>
          <p:nvPr/>
        </p:nvPicPr>
        <p:blipFill>
          <a:blip r:embed="rId2"/>
          <a:stretch>
            <a:fillRect/>
          </a:stretch>
        </p:blipFill>
        <p:spPr>
          <a:xfrm>
            <a:off x="152283" y="1136822"/>
            <a:ext cx="9753600" cy="535303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787CFB3-D18D-F312-5CC4-8BE8ACE4D131}"/>
            </a:ext>
          </a:extLst>
        </p:cNvPr>
        <p:cNvGrpSpPr/>
        <p:nvPr/>
      </p:nvGrpSpPr>
      <p:grpSpPr>
        <a:xfrm>
          <a:off x="0" y="0"/>
          <a:ext cx="0" cy="0"/>
          <a:chOff x="0" y="0"/>
          <a:chExt cx="0" cy="0"/>
        </a:xfrm>
      </p:grpSpPr>
      <p:grpSp>
        <p:nvGrpSpPr>
          <p:cNvPr id="5" name="object 5">
            <a:extLst>
              <a:ext uri="{FF2B5EF4-FFF2-40B4-BE49-F238E27FC236}">
                <a16:creationId xmlns:a16="http://schemas.microsoft.com/office/drawing/2014/main" id="{2730F0C0-AAF1-30C2-3208-94E7C7B4DA47}"/>
              </a:ext>
            </a:extLst>
          </p:cNvPr>
          <p:cNvGrpSpPr/>
          <p:nvPr/>
        </p:nvGrpSpPr>
        <p:grpSpPr>
          <a:xfrm>
            <a:off x="5652387" y="-4762"/>
            <a:ext cx="4434205" cy="7569200"/>
            <a:chOff x="5652387" y="-4762"/>
            <a:chExt cx="4434205" cy="7569200"/>
          </a:xfrm>
        </p:grpSpPr>
        <p:sp>
          <p:nvSpPr>
            <p:cNvPr id="6" name="object 6">
              <a:extLst>
                <a:ext uri="{FF2B5EF4-FFF2-40B4-BE49-F238E27FC236}">
                  <a16:creationId xmlns:a16="http://schemas.microsoft.com/office/drawing/2014/main" id="{B449764A-54B2-B474-85EA-C865C406EFCA}"/>
                </a:ext>
              </a:extLst>
            </p:cNvPr>
            <p:cNvSpPr/>
            <p:nvPr/>
          </p:nvSpPr>
          <p:spPr>
            <a:xfrm>
              <a:off x="5657149" y="0"/>
              <a:ext cx="4424680" cy="7559675"/>
            </a:xfrm>
            <a:custGeom>
              <a:avLst/>
              <a:gdLst/>
              <a:ahLst/>
              <a:cxnLst/>
              <a:rect l="l" t="t" r="r" b="b"/>
              <a:pathLst>
                <a:path w="4424680" h="7559675">
                  <a:moveTo>
                    <a:pt x="0" y="7559040"/>
                  </a:moveTo>
                  <a:lnTo>
                    <a:pt x="4424110" y="4608028"/>
                  </a:lnTo>
                </a:path>
                <a:path w="4424680" h="7559675">
                  <a:moveTo>
                    <a:pt x="2107249" y="0"/>
                  </a:moveTo>
                  <a:lnTo>
                    <a:pt x="3450274" y="7559673"/>
                  </a:lnTo>
                </a:path>
              </a:pathLst>
            </a:custGeom>
            <a:ln w="9525">
              <a:solidFill>
                <a:srgbClr val="5FCAEE"/>
              </a:solidFill>
            </a:ln>
          </p:spPr>
          <p:txBody>
            <a:bodyPr wrap="square" lIns="0" tIns="0" rIns="0" bIns="0" rtlCol="0"/>
            <a:lstStyle/>
            <a:p>
              <a:endParaRPr/>
            </a:p>
          </p:txBody>
        </p:sp>
        <p:sp>
          <p:nvSpPr>
            <p:cNvPr id="7" name="object 7">
              <a:extLst>
                <a:ext uri="{FF2B5EF4-FFF2-40B4-BE49-F238E27FC236}">
                  <a16:creationId xmlns:a16="http://schemas.microsoft.com/office/drawing/2014/main" id="{37ACBFBE-7F33-7F39-772D-54D1A8C94117}"/>
                </a:ext>
              </a:extLst>
            </p:cNvPr>
            <p:cNvSpPr/>
            <p:nvPr/>
          </p:nvSpPr>
          <p:spPr>
            <a:xfrm>
              <a:off x="7598019" y="0"/>
              <a:ext cx="2483485" cy="7559040"/>
            </a:xfrm>
            <a:custGeom>
              <a:avLst/>
              <a:gdLst/>
              <a:ahLst/>
              <a:cxnLst/>
              <a:rect l="l" t="t" r="r" b="b"/>
              <a:pathLst>
                <a:path w="2483484" h="7559040">
                  <a:moveTo>
                    <a:pt x="2230510" y="0"/>
                  </a:moveTo>
                  <a:lnTo>
                    <a:pt x="0" y="7559040"/>
                  </a:lnTo>
                  <a:lnTo>
                    <a:pt x="2483240" y="7559040"/>
                  </a:lnTo>
                  <a:lnTo>
                    <a:pt x="2483240" y="8964"/>
                  </a:lnTo>
                  <a:lnTo>
                    <a:pt x="2230510" y="0"/>
                  </a:lnTo>
                  <a:close/>
                </a:path>
              </a:pathLst>
            </a:custGeom>
            <a:solidFill>
              <a:srgbClr val="5FCAEE">
                <a:alpha val="35293"/>
              </a:srgbClr>
            </a:solidFill>
          </p:spPr>
          <p:txBody>
            <a:bodyPr wrap="square" lIns="0" tIns="0" rIns="0" bIns="0" rtlCol="0"/>
            <a:lstStyle/>
            <a:p>
              <a:endParaRPr/>
            </a:p>
          </p:txBody>
        </p:sp>
        <p:sp>
          <p:nvSpPr>
            <p:cNvPr id="8" name="object 8">
              <a:extLst>
                <a:ext uri="{FF2B5EF4-FFF2-40B4-BE49-F238E27FC236}">
                  <a16:creationId xmlns:a16="http://schemas.microsoft.com/office/drawing/2014/main" id="{EA883F50-55DC-4FEF-DEB1-7AF4ED332792}"/>
                </a:ext>
              </a:extLst>
            </p:cNvPr>
            <p:cNvSpPr/>
            <p:nvPr/>
          </p:nvSpPr>
          <p:spPr>
            <a:xfrm>
              <a:off x="7943867" y="0"/>
              <a:ext cx="2137410" cy="7559040"/>
            </a:xfrm>
            <a:custGeom>
              <a:avLst/>
              <a:gdLst/>
              <a:ahLst/>
              <a:cxnLst/>
              <a:rect l="l" t="t" r="r" b="b"/>
              <a:pathLst>
                <a:path w="2137409" h="7559040">
                  <a:moveTo>
                    <a:pt x="2137392" y="0"/>
                  </a:moveTo>
                  <a:lnTo>
                    <a:pt x="0" y="0"/>
                  </a:lnTo>
                  <a:lnTo>
                    <a:pt x="1323846" y="7559040"/>
                  </a:lnTo>
                  <a:lnTo>
                    <a:pt x="2137392" y="7559040"/>
                  </a:lnTo>
                  <a:lnTo>
                    <a:pt x="2137392" y="0"/>
                  </a:lnTo>
                  <a:close/>
                </a:path>
              </a:pathLst>
            </a:custGeom>
            <a:solidFill>
              <a:srgbClr val="5FCAEE">
                <a:alpha val="19215"/>
              </a:srgbClr>
            </a:solidFill>
          </p:spPr>
          <p:txBody>
            <a:bodyPr wrap="square" lIns="0" tIns="0" rIns="0" bIns="0" rtlCol="0"/>
            <a:lstStyle/>
            <a:p>
              <a:endParaRPr/>
            </a:p>
          </p:txBody>
        </p:sp>
        <p:sp>
          <p:nvSpPr>
            <p:cNvPr id="9" name="object 9">
              <a:extLst>
                <a:ext uri="{FF2B5EF4-FFF2-40B4-BE49-F238E27FC236}">
                  <a16:creationId xmlns:a16="http://schemas.microsoft.com/office/drawing/2014/main" id="{E986E018-FFB2-592E-1430-1796F6FC14D2}"/>
                </a:ext>
              </a:extLst>
            </p:cNvPr>
            <p:cNvSpPr/>
            <p:nvPr/>
          </p:nvSpPr>
          <p:spPr>
            <a:xfrm>
              <a:off x="7318916" y="4321324"/>
              <a:ext cx="2762885" cy="3237865"/>
            </a:xfrm>
            <a:custGeom>
              <a:avLst/>
              <a:gdLst/>
              <a:ahLst/>
              <a:cxnLst/>
              <a:rect l="l" t="t" r="r" b="b"/>
              <a:pathLst>
                <a:path w="2762884" h="3237865">
                  <a:moveTo>
                    <a:pt x="2762343" y="0"/>
                  </a:moveTo>
                  <a:lnTo>
                    <a:pt x="0" y="3237715"/>
                  </a:lnTo>
                  <a:lnTo>
                    <a:pt x="2762343" y="3237715"/>
                  </a:lnTo>
                  <a:lnTo>
                    <a:pt x="2762343" y="0"/>
                  </a:lnTo>
                  <a:close/>
                </a:path>
              </a:pathLst>
            </a:custGeom>
            <a:solidFill>
              <a:srgbClr val="17AFE3">
                <a:alpha val="65097"/>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AA69031B-2C0C-15D4-A594-5CA6ABB1372C}"/>
                </a:ext>
              </a:extLst>
            </p:cNvPr>
            <p:cNvSpPr/>
            <p:nvPr/>
          </p:nvSpPr>
          <p:spPr>
            <a:xfrm>
              <a:off x="7730525" y="0"/>
              <a:ext cx="2350770" cy="7559040"/>
            </a:xfrm>
            <a:custGeom>
              <a:avLst/>
              <a:gdLst/>
              <a:ahLst/>
              <a:cxnLst/>
              <a:rect l="l" t="t" r="r" b="b"/>
              <a:pathLst>
                <a:path w="2350770" h="7559040">
                  <a:moveTo>
                    <a:pt x="2350734" y="0"/>
                  </a:moveTo>
                  <a:lnTo>
                    <a:pt x="0" y="0"/>
                  </a:lnTo>
                  <a:lnTo>
                    <a:pt x="2043984" y="7559040"/>
                  </a:lnTo>
                  <a:lnTo>
                    <a:pt x="2065639" y="7559040"/>
                  </a:lnTo>
                  <a:lnTo>
                    <a:pt x="2350734" y="7550605"/>
                  </a:lnTo>
                  <a:lnTo>
                    <a:pt x="2350734" y="0"/>
                  </a:lnTo>
                  <a:close/>
                </a:path>
              </a:pathLst>
            </a:custGeom>
            <a:solidFill>
              <a:srgbClr val="17AFE3">
                <a:alpha val="49411"/>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8C28F0AD-27A3-B92C-63C1-CA75372436B0}"/>
                </a:ext>
              </a:extLst>
            </p:cNvPr>
            <p:cNvSpPr/>
            <p:nvPr/>
          </p:nvSpPr>
          <p:spPr>
            <a:xfrm>
              <a:off x="9145586" y="0"/>
              <a:ext cx="935990" cy="7559040"/>
            </a:xfrm>
            <a:custGeom>
              <a:avLst/>
              <a:gdLst/>
              <a:ahLst/>
              <a:cxnLst/>
              <a:rect l="l" t="t" r="r" b="b"/>
              <a:pathLst>
                <a:path w="935990" h="7559040">
                  <a:moveTo>
                    <a:pt x="935673" y="0"/>
                  </a:moveTo>
                  <a:lnTo>
                    <a:pt x="744742" y="0"/>
                  </a:lnTo>
                  <a:lnTo>
                    <a:pt x="0" y="7559040"/>
                  </a:lnTo>
                  <a:lnTo>
                    <a:pt x="935673" y="7559040"/>
                  </a:lnTo>
                  <a:lnTo>
                    <a:pt x="935673" y="0"/>
                  </a:lnTo>
                  <a:close/>
                </a:path>
              </a:pathLst>
            </a:custGeom>
            <a:solidFill>
              <a:srgbClr val="2D83C3">
                <a:alpha val="69410"/>
              </a:srgbClr>
            </a:solidFill>
          </p:spPr>
          <p:txBody>
            <a:bodyPr wrap="square" lIns="0" tIns="0" rIns="0" bIns="0" rtlCol="0"/>
            <a:lstStyle/>
            <a:p>
              <a:endParaRPr/>
            </a:p>
          </p:txBody>
        </p:sp>
        <p:sp>
          <p:nvSpPr>
            <p:cNvPr id="12" name="object 12">
              <a:extLst>
                <a:ext uri="{FF2B5EF4-FFF2-40B4-BE49-F238E27FC236}">
                  <a16:creationId xmlns:a16="http://schemas.microsoft.com/office/drawing/2014/main" id="{4D374F00-80E3-3376-F300-158A72806428}"/>
                </a:ext>
              </a:extLst>
            </p:cNvPr>
            <p:cNvSpPr/>
            <p:nvPr/>
          </p:nvSpPr>
          <p:spPr>
            <a:xfrm>
              <a:off x="8924576" y="0"/>
              <a:ext cx="1156970" cy="7559040"/>
            </a:xfrm>
            <a:custGeom>
              <a:avLst/>
              <a:gdLst/>
              <a:ahLst/>
              <a:cxnLst/>
              <a:rect l="l" t="t" r="r" b="b"/>
              <a:pathLst>
                <a:path w="1156970" h="7559040">
                  <a:moveTo>
                    <a:pt x="1156683" y="0"/>
                  </a:moveTo>
                  <a:lnTo>
                    <a:pt x="0" y="0"/>
                  </a:lnTo>
                  <a:lnTo>
                    <a:pt x="1033660" y="7559040"/>
                  </a:lnTo>
                  <a:lnTo>
                    <a:pt x="1156683" y="7559040"/>
                  </a:lnTo>
                  <a:lnTo>
                    <a:pt x="1156683" y="0"/>
                  </a:lnTo>
                  <a:close/>
                </a:path>
              </a:pathLst>
            </a:custGeom>
            <a:solidFill>
              <a:srgbClr val="226192">
                <a:alpha val="81175"/>
              </a:srgbClr>
            </a:solidFill>
          </p:spPr>
          <p:txBody>
            <a:bodyPr wrap="square" lIns="0" tIns="0" rIns="0" bIns="0" rtlCol="0"/>
            <a:lstStyle/>
            <a:p>
              <a:endParaRPr/>
            </a:p>
          </p:txBody>
        </p:sp>
        <p:sp>
          <p:nvSpPr>
            <p:cNvPr id="13" name="object 13">
              <a:extLst>
                <a:ext uri="{FF2B5EF4-FFF2-40B4-BE49-F238E27FC236}">
                  <a16:creationId xmlns:a16="http://schemas.microsoft.com/office/drawing/2014/main" id="{B8CB3CE2-DA7A-FA9A-0924-BCBCC6F36A6A}"/>
                </a:ext>
              </a:extLst>
            </p:cNvPr>
            <p:cNvSpPr/>
            <p:nvPr/>
          </p:nvSpPr>
          <p:spPr>
            <a:xfrm>
              <a:off x="8895050" y="5420201"/>
              <a:ext cx="1186815" cy="2139315"/>
            </a:xfrm>
            <a:custGeom>
              <a:avLst/>
              <a:gdLst/>
              <a:ahLst/>
              <a:cxnLst/>
              <a:rect l="l" t="t" r="r" b="b"/>
              <a:pathLst>
                <a:path w="1186815" h="2139315">
                  <a:moveTo>
                    <a:pt x="1186209" y="0"/>
                  </a:moveTo>
                  <a:lnTo>
                    <a:pt x="0" y="2138838"/>
                  </a:lnTo>
                  <a:lnTo>
                    <a:pt x="136021" y="2138838"/>
                  </a:lnTo>
                  <a:lnTo>
                    <a:pt x="1186209" y="2133955"/>
                  </a:lnTo>
                  <a:lnTo>
                    <a:pt x="1186209" y="0"/>
                  </a:lnTo>
                  <a:close/>
                </a:path>
              </a:pathLst>
            </a:custGeom>
            <a:solidFill>
              <a:srgbClr val="17AFE3">
                <a:alpha val="65097"/>
              </a:srgbClr>
            </a:solidFill>
          </p:spPr>
          <p:txBody>
            <a:bodyPr wrap="square" lIns="0" tIns="0" rIns="0" bIns="0" rtlCol="0"/>
            <a:lstStyle/>
            <a:p>
              <a:endParaRPr/>
            </a:p>
          </p:txBody>
        </p:sp>
      </p:grpSp>
      <p:sp>
        <p:nvSpPr>
          <p:cNvPr id="14" name="object 14">
            <a:extLst>
              <a:ext uri="{FF2B5EF4-FFF2-40B4-BE49-F238E27FC236}">
                <a16:creationId xmlns:a16="http://schemas.microsoft.com/office/drawing/2014/main" id="{DE6B2BCA-0825-28E0-CA99-3F4D608E9279}"/>
              </a:ext>
            </a:extLst>
          </p:cNvPr>
          <p:cNvSpPr txBox="1">
            <a:spLocks noGrp="1"/>
          </p:cNvSpPr>
          <p:nvPr>
            <p:ph type="title"/>
          </p:nvPr>
        </p:nvSpPr>
        <p:spPr>
          <a:xfrm>
            <a:off x="411042" y="276225"/>
            <a:ext cx="7421245" cy="1085850"/>
          </a:xfrm>
          <a:prstGeom prst="rect">
            <a:avLst/>
          </a:prstGeom>
        </p:spPr>
        <p:txBody>
          <a:bodyPr vert="horz" wrap="square" lIns="0" tIns="330378" rIns="0" bIns="0" rtlCol="0">
            <a:spAutoFit/>
          </a:bodyPr>
          <a:lstStyle/>
          <a:p>
            <a:pPr marL="272415">
              <a:lnSpc>
                <a:spcPct val="100000"/>
              </a:lnSpc>
              <a:spcBef>
                <a:spcPts val="100"/>
              </a:spcBef>
            </a:pPr>
            <a:r>
              <a:rPr spc="-10" dirty="0"/>
              <a:t>Implementation</a:t>
            </a:r>
          </a:p>
        </p:txBody>
      </p:sp>
      <p:sp>
        <p:nvSpPr>
          <p:cNvPr id="15" name="object 15">
            <a:extLst>
              <a:ext uri="{FF2B5EF4-FFF2-40B4-BE49-F238E27FC236}">
                <a16:creationId xmlns:a16="http://schemas.microsoft.com/office/drawing/2014/main" id="{60FE4D57-783F-72D0-ECBD-44A5DC59BBF8}"/>
              </a:ext>
            </a:extLst>
          </p:cNvPr>
          <p:cNvSpPr txBox="1"/>
          <p:nvPr/>
        </p:nvSpPr>
        <p:spPr>
          <a:xfrm>
            <a:off x="3112960" y="6372225"/>
            <a:ext cx="3417889" cy="641201"/>
          </a:xfrm>
          <a:prstGeom prst="rect">
            <a:avLst/>
          </a:prstGeom>
        </p:spPr>
        <p:txBody>
          <a:bodyPr vert="horz" wrap="square" lIns="0" tIns="12700" rIns="0" bIns="0" rtlCol="0">
            <a:spAutoFit/>
          </a:bodyPr>
          <a:lstStyle/>
          <a:p>
            <a:pPr marL="12700" algn="ctr">
              <a:lnSpc>
                <a:spcPct val="100000"/>
              </a:lnSpc>
              <a:spcBef>
                <a:spcPts val="100"/>
              </a:spcBef>
            </a:pPr>
            <a:r>
              <a:rPr sz="2000" b="1" dirty="0">
                <a:latin typeface="Times New Roman"/>
                <a:cs typeface="Times New Roman"/>
              </a:rPr>
              <a:t>Figure</a:t>
            </a:r>
            <a:r>
              <a:rPr sz="2000" b="1" spc="-10" dirty="0">
                <a:latin typeface="Times New Roman"/>
                <a:cs typeface="Times New Roman"/>
              </a:rPr>
              <a:t> </a:t>
            </a:r>
            <a:r>
              <a:rPr lang="en-IN" sz="2000" b="1" spc="-10" dirty="0">
                <a:latin typeface="Times New Roman"/>
                <a:cs typeface="Times New Roman"/>
              </a:rPr>
              <a:t>2</a:t>
            </a:r>
            <a:r>
              <a:rPr sz="2000" b="1" dirty="0">
                <a:latin typeface="Times New Roman"/>
                <a:cs typeface="Times New Roman"/>
              </a:rPr>
              <a:t>.</a:t>
            </a:r>
            <a:r>
              <a:rPr sz="2000" b="1" spc="-15" dirty="0">
                <a:latin typeface="Times New Roman"/>
                <a:cs typeface="Times New Roman"/>
              </a:rPr>
              <a:t> </a:t>
            </a:r>
            <a:r>
              <a:rPr lang="en-IN" sz="2000" b="1" spc="-15" dirty="0">
                <a:latin typeface="Times New Roman"/>
                <a:cs typeface="Times New Roman"/>
              </a:rPr>
              <a:t>Similar Songs Page</a:t>
            </a:r>
          </a:p>
          <a:p>
            <a:pPr marL="12700" algn="ctr">
              <a:lnSpc>
                <a:spcPct val="100000"/>
              </a:lnSpc>
              <a:spcBef>
                <a:spcPts val="100"/>
              </a:spcBef>
            </a:pPr>
            <a:endParaRPr sz="2000" dirty="0">
              <a:latin typeface="Times New Roman"/>
              <a:cs typeface="Times New Roman"/>
            </a:endParaRPr>
          </a:p>
        </p:txBody>
      </p:sp>
      <p:pic>
        <p:nvPicPr>
          <p:cNvPr id="3" name="Picture 2">
            <a:extLst>
              <a:ext uri="{FF2B5EF4-FFF2-40B4-BE49-F238E27FC236}">
                <a16:creationId xmlns:a16="http://schemas.microsoft.com/office/drawing/2014/main" id="{1D0ABC2A-BAB0-46A6-BDE4-158D4324845B}"/>
              </a:ext>
            </a:extLst>
          </p:cNvPr>
          <p:cNvPicPr>
            <a:picLocks noChangeAspect="1"/>
          </p:cNvPicPr>
          <p:nvPr/>
        </p:nvPicPr>
        <p:blipFill>
          <a:blip r:embed="rId2"/>
          <a:stretch>
            <a:fillRect/>
          </a:stretch>
        </p:blipFill>
        <p:spPr>
          <a:xfrm>
            <a:off x="165100" y="1409215"/>
            <a:ext cx="9601200" cy="4744420"/>
          </a:xfrm>
          <a:prstGeom prst="rect">
            <a:avLst/>
          </a:prstGeom>
        </p:spPr>
      </p:pic>
    </p:spTree>
    <p:extLst>
      <p:ext uri="{BB962C8B-B14F-4D97-AF65-F5344CB8AC3E}">
        <p14:creationId xmlns:p14="http://schemas.microsoft.com/office/powerpoint/2010/main" val="1179262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object 5"/>
          <p:cNvGrpSpPr/>
          <p:nvPr/>
        </p:nvGrpSpPr>
        <p:grpSpPr>
          <a:xfrm>
            <a:off x="5652387" y="-4762"/>
            <a:ext cx="4434205" cy="7569200"/>
            <a:chOff x="5652387" y="-4762"/>
            <a:chExt cx="4434205" cy="7569200"/>
          </a:xfrm>
        </p:grpSpPr>
        <p:sp>
          <p:nvSpPr>
            <p:cNvPr id="6" name="object 6"/>
            <p:cNvSpPr/>
            <p:nvPr/>
          </p:nvSpPr>
          <p:spPr>
            <a:xfrm>
              <a:off x="5657149" y="0"/>
              <a:ext cx="4424680" cy="7559675"/>
            </a:xfrm>
            <a:custGeom>
              <a:avLst/>
              <a:gdLst/>
              <a:ahLst/>
              <a:cxnLst/>
              <a:rect l="l" t="t" r="r" b="b"/>
              <a:pathLst>
                <a:path w="4424680" h="7559675">
                  <a:moveTo>
                    <a:pt x="0" y="7559040"/>
                  </a:moveTo>
                  <a:lnTo>
                    <a:pt x="4424110" y="4608028"/>
                  </a:lnTo>
                </a:path>
                <a:path w="4424680" h="7559675">
                  <a:moveTo>
                    <a:pt x="2107249" y="0"/>
                  </a:moveTo>
                  <a:lnTo>
                    <a:pt x="3450274" y="7559673"/>
                  </a:lnTo>
                </a:path>
              </a:pathLst>
            </a:custGeom>
            <a:ln w="9525">
              <a:solidFill>
                <a:srgbClr val="5FCAEE"/>
              </a:solidFill>
            </a:ln>
          </p:spPr>
          <p:txBody>
            <a:bodyPr wrap="square" lIns="0" tIns="0" rIns="0" bIns="0" rtlCol="0"/>
            <a:lstStyle/>
            <a:p>
              <a:endParaRPr/>
            </a:p>
          </p:txBody>
        </p:sp>
        <p:sp>
          <p:nvSpPr>
            <p:cNvPr id="7" name="object 7"/>
            <p:cNvSpPr/>
            <p:nvPr/>
          </p:nvSpPr>
          <p:spPr>
            <a:xfrm>
              <a:off x="7598019" y="0"/>
              <a:ext cx="2483485" cy="7559040"/>
            </a:xfrm>
            <a:custGeom>
              <a:avLst/>
              <a:gdLst/>
              <a:ahLst/>
              <a:cxnLst/>
              <a:rect l="l" t="t" r="r" b="b"/>
              <a:pathLst>
                <a:path w="2483484" h="7559040">
                  <a:moveTo>
                    <a:pt x="2230510" y="0"/>
                  </a:moveTo>
                  <a:lnTo>
                    <a:pt x="0" y="7559040"/>
                  </a:lnTo>
                  <a:lnTo>
                    <a:pt x="2483240" y="7559040"/>
                  </a:lnTo>
                  <a:lnTo>
                    <a:pt x="2483240" y="8964"/>
                  </a:lnTo>
                  <a:lnTo>
                    <a:pt x="2230510" y="0"/>
                  </a:lnTo>
                  <a:close/>
                </a:path>
              </a:pathLst>
            </a:custGeom>
            <a:solidFill>
              <a:srgbClr val="5FCAEE">
                <a:alpha val="35293"/>
              </a:srgbClr>
            </a:solidFill>
          </p:spPr>
          <p:txBody>
            <a:bodyPr wrap="square" lIns="0" tIns="0" rIns="0" bIns="0" rtlCol="0"/>
            <a:lstStyle/>
            <a:p>
              <a:endParaRPr/>
            </a:p>
          </p:txBody>
        </p:sp>
        <p:sp>
          <p:nvSpPr>
            <p:cNvPr id="8" name="object 8"/>
            <p:cNvSpPr/>
            <p:nvPr/>
          </p:nvSpPr>
          <p:spPr>
            <a:xfrm>
              <a:off x="7943867" y="0"/>
              <a:ext cx="2137410" cy="7559040"/>
            </a:xfrm>
            <a:custGeom>
              <a:avLst/>
              <a:gdLst/>
              <a:ahLst/>
              <a:cxnLst/>
              <a:rect l="l" t="t" r="r" b="b"/>
              <a:pathLst>
                <a:path w="2137409" h="7559040">
                  <a:moveTo>
                    <a:pt x="2137392" y="0"/>
                  </a:moveTo>
                  <a:lnTo>
                    <a:pt x="0" y="0"/>
                  </a:lnTo>
                  <a:lnTo>
                    <a:pt x="1323846" y="7559040"/>
                  </a:lnTo>
                  <a:lnTo>
                    <a:pt x="2137392" y="7559040"/>
                  </a:lnTo>
                  <a:lnTo>
                    <a:pt x="2137392" y="0"/>
                  </a:lnTo>
                  <a:close/>
                </a:path>
              </a:pathLst>
            </a:custGeom>
            <a:solidFill>
              <a:srgbClr val="5FCAEE">
                <a:alpha val="19215"/>
              </a:srgbClr>
            </a:solidFill>
          </p:spPr>
          <p:txBody>
            <a:bodyPr wrap="square" lIns="0" tIns="0" rIns="0" bIns="0" rtlCol="0"/>
            <a:lstStyle/>
            <a:p>
              <a:endParaRPr/>
            </a:p>
          </p:txBody>
        </p:sp>
        <p:sp>
          <p:nvSpPr>
            <p:cNvPr id="9" name="object 9"/>
            <p:cNvSpPr/>
            <p:nvPr/>
          </p:nvSpPr>
          <p:spPr>
            <a:xfrm>
              <a:off x="7318916" y="4321324"/>
              <a:ext cx="2762885" cy="3237865"/>
            </a:xfrm>
            <a:custGeom>
              <a:avLst/>
              <a:gdLst/>
              <a:ahLst/>
              <a:cxnLst/>
              <a:rect l="l" t="t" r="r" b="b"/>
              <a:pathLst>
                <a:path w="2762884" h="3237865">
                  <a:moveTo>
                    <a:pt x="2762343" y="0"/>
                  </a:moveTo>
                  <a:lnTo>
                    <a:pt x="0" y="3237715"/>
                  </a:lnTo>
                  <a:lnTo>
                    <a:pt x="2762343" y="3237715"/>
                  </a:lnTo>
                  <a:lnTo>
                    <a:pt x="2762343" y="0"/>
                  </a:lnTo>
                  <a:close/>
                </a:path>
              </a:pathLst>
            </a:custGeom>
            <a:solidFill>
              <a:srgbClr val="17AFE3">
                <a:alpha val="65097"/>
              </a:srgbClr>
            </a:solidFill>
          </p:spPr>
          <p:txBody>
            <a:bodyPr wrap="square" lIns="0" tIns="0" rIns="0" bIns="0" rtlCol="0"/>
            <a:lstStyle/>
            <a:p>
              <a:endParaRPr/>
            </a:p>
          </p:txBody>
        </p:sp>
        <p:sp>
          <p:nvSpPr>
            <p:cNvPr id="10" name="object 10"/>
            <p:cNvSpPr/>
            <p:nvPr/>
          </p:nvSpPr>
          <p:spPr>
            <a:xfrm>
              <a:off x="7730525" y="0"/>
              <a:ext cx="2350770" cy="7559040"/>
            </a:xfrm>
            <a:custGeom>
              <a:avLst/>
              <a:gdLst/>
              <a:ahLst/>
              <a:cxnLst/>
              <a:rect l="l" t="t" r="r" b="b"/>
              <a:pathLst>
                <a:path w="2350770" h="7559040">
                  <a:moveTo>
                    <a:pt x="2350734" y="0"/>
                  </a:moveTo>
                  <a:lnTo>
                    <a:pt x="0" y="0"/>
                  </a:lnTo>
                  <a:lnTo>
                    <a:pt x="2043984" y="7559040"/>
                  </a:lnTo>
                  <a:lnTo>
                    <a:pt x="2065639" y="7559040"/>
                  </a:lnTo>
                  <a:lnTo>
                    <a:pt x="2350734" y="7550605"/>
                  </a:lnTo>
                  <a:lnTo>
                    <a:pt x="2350734" y="0"/>
                  </a:lnTo>
                  <a:close/>
                </a:path>
              </a:pathLst>
            </a:custGeom>
            <a:solidFill>
              <a:srgbClr val="17AFE3">
                <a:alpha val="49411"/>
              </a:srgbClr>
            </a:solidFill>
          </p:spPr>
          <p:txBody>
            <a:bodyPr wrap="square" lIns="0" tIns="0" rIns="0" bIns="0" rtlCol="0"/>
            <a:lstStyle/>
            <a:p>
              <a:endParaRPr/>
            </a:p>
          </p:txBody>
        </p:sp>
        <p:sp>
          <p:nvSpPr>
            <p:cNvPr id="11" name="object 11"/>
            <p:cNvSpPr/>
            <p:nvPr/>
          </p:nvSpPr>
          <p:spPr>
            <a:xfrm>
              <a:off x="9145586" y="0"/>
              <a:ext cx="935990" cy="7559040"/>
            </a:xfrm>
            <a:custGeom>
              <a:avLst/>
              <a:gdLst/>
              <a:ahLst/>
              <a:cxnLst/>
              <a:rect l="l" t="t" r="r" b="b"/>
              <a:pathLst>
                <a:path w="935990" h="7559040">
                  <a:moveTo>
                    <a:pt x="935673" y="0"/>
                  </a:moveTo>
                  <a:lnTo>
                    <a:pt x="744742" y="0"/>
                  </a:lnTo>
                  <a:lnTo>
                    <a:pt x="0" y="7559040"/>
                  </a:lnTo>
                  <a:lnTo>
                    <a:pt x="935673" y="7559040"/>
                  </a:lnTo>
                  <a:lnTo>
                    <a:pt x="935673" y="0"/>
                  </a:lnTo>
                  <a:close/>
                </a:path>
              </a:pathLst>
            </a:custGeom>
            <a:solidFill>
              <a:srgbClr val="2D83C3">
                <a:alpha val="69410"/>
              </a:srgbClr>
            </a:solidFill>
          </p:spPr>
          <p:txBody>
            <a:bodyPr wrap="square" lIns="0" tIns="0" rIns="0" bIns="0" rtlCol="0"/>
            <a:lstStyle/>
            <a:p>
              <a:endParaRPr/>
            </a:p>
          </p:txBody>
        </p:sp>
        <p:sp>
          <p:nvSpPr>
            <p:cNvPr id="12" name="object 12"/>
            <p:cNvSpPr/>
            <p:nvPr/>
          </p:nvSpPr>
          <p:spPr>
            <a:xfrm>
              <a:off x="8924576" y="0"/>
              <a:ext cx="1156970" cy="7559040"/>
            </a:xfrm>
            <a:custGeom>
              <a:avLst/>
              <a:gdLst/>
              <a:ahLst/>
              <a:cxnLst/>
              <a:rect l="l" t="t" r="r" b="b"/>
              <a:pathLst>
                <a:path w="1156970" h="7559040">
                  <a:moveTo>
                    <a:pt x="1156683" y="0"/>
                  </a:moveTo>
                  <a:lnTo>
                    <a:pt x="0" y="0"/>
                  </a:lnTo>
                  <a:lnTo>
                    <a:pt x="1033660" y="7559040"/>
                  </a:lnTo>
                  <a:lnTo>
                    <a:pt x="1156683" y="7559040"/>
                  </a:lnTo>
                  <a:lnTo>
                    <a:pt x="1156683" y="0"/>
                  </a:lnTo>
                  <a:close/>
                </a:path>
              </a:pathLst>
            </a:custGeom>
            <a:solidFill>
              <a:srgbClr val="226192">
                <a:alpha val="81175"/>
              </a:srgbClr>
            </a:solidFill>
          </p:spPr>
          <p:txBody>
            <a:bodyPr wrap="square" lIns="0" tIns="0" rIns="0" bIns="0" rtlCol="0"/>
            <a:lstStyle/>
            <a:p>
              <a:endParaRPr/>
            </a:p>
          </p:txBody>
        </p:sp>
        <p:sp>
          <p:nvSpPr>
            <p:cNvPr id="13" name="object 13"/>
            <p:cNvSpPr/>
            <p:nvPr/>
          </p:nvSpPr>
          <p:spPr>
            <a:xfrm>
              <a:off x="8895050" y="5420201"/>
              <a:ext cx="1186815" cy="2139315"/>
            </a:xfrm>
            <a:custGeom>
              <a:avLst/>
              <a:gdLst/>
              <a:ahLst/>
              <a:cxnLst/>
              <a:rect l="l" t="t" r="r" b="b"/>
              <a:pathLst>
                <a:path w="1186815" h="2139315">
                  <a:moveTo>
                    <a:pt x="1186209" y="0"/>
                  </a:moveTo>
                  <a:lnTo>
                    <a:pt x="0" y="2138838"/>
                  </a:lnTo>
                  <a:lnTo>
                    <a:pt x="136021" y="2138838"/>
                  </a:lnTo>
                  <a:lnTo>
                    <a:pt x="1186209" y="2133955"/>
                  </a:lnTo>
                  <a:lnTo>
                    <a:pt x="1186209" y="0"/>
                  </a:lnTo>
                  <a:close/>
                </a:path>
              </a:pathLst>
            </a:custGeom>
            <a:solidFill>
              <a:srgbClr val="17AFE3">
                <a:alpha val="65097"/>
              </a:srgbClr>
            </a:solidFill>
          </p:spPr>
          <p:txBody>
            <a:bodyPr wrap="square" lIns="0" tIns="0" rIns="0" bIns="0" rtlCol="0"/>
            <a:lstStyle/>
            <a:p>
              <a:endParaRPr/>
            </a:p>
          </p:txBody>
        </p:sp>
      </p:grpSp>
      <p:sp>
        <p:nvSpPr>
          <p:cNvPr id="14" name="object 14"/>
          <p:cNvSpPr txBox="1">
            <a:spLocks noGrp="1"/>
          </p:cNvSpPr>
          <p:nvPr>
            <p:ph type="title"/>
          </p:nvPr>
        </p:nvSpPr>
        <p:spPr>
          <a:prstGeom prst="rect">
            <a:avLst/>
          </a:prstGeom>
        </p:spPr>
        <p:txBody>
          <a:bodyPr vert="horz" wrap="square" lIns="0" tIns="330378" rIns="0" bIns="0" rtlCol="0">
            <a:spAutoFit/>
          </a:bodyPr>
          <a:lstStyle/>
          <a:p>
            <a:pPr marL="272415">
              <a:lnSpc>
                <a:spcPct val="100000"/>
              </a:lnSpc>
              <a:spcBef>
                <a:spcPts val="100"/>
              </a:spcBef>
            </a:pPr>
            <a:r>
              <a:rPr spc="-10" dirty="0"/>
              <a:t>Implementation</a:t>
            </a:r>
          </a:p>
        </p:txBody>
      </p:sp>
      <p:sp>
        <p:nvSpPr>
          <p:cNvPr id="15" name="object 15"/>
          <p:cNvSpPr txBox="1"/>
          <p:nvPr/>
        </p:nvSpPr>
        <p:spPr>
          <a:xfrm>
            <a:off x="3214877" y="6355486"/>
            <a:ext cx="3651250" cy="641201"/>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a:cs typeface="Times New Roman"/>
              </a:rPr>
              <a:t>Figure</a:t>
            </a:r>
            <a:r>
              <a:rPr sz="2000" b="1" spc="-20" dirty="0">
                <a:latin typeface="Times New Roman"/>
                <a:cs typeface="Times New Roman"/>
              </a:rPr>
              <a:t> </a:t>
            </a:r>
            <a:r>
              <a:rPr lang="en-IN" sz="2000" b="1" spc="-20" dirty="0">
                <a:latin typeface="Times New Roman"/>
                <a:cs typeface="Times New Roman"/>
              </a:rPr>
              <a:t>3</a:t>
            </a:r>
            <a:r>
              <a:rPr lang="en-IN" sz="2000" b="1" dirty="0">
                <a:latin typeface="Times New Roman"/>
                <a:cs typeface="Times New Roman"/>
              </a:rPr>
              <a:t>.</a:t>
            </a:r>
            <a:r>
              <a:rPr lang="en-IN" sz="2000" b="1" spc="-20" dirty="0">
                <a:latin typeface="Times New Roman"/>
                <a:cs typeface="Times New Roman"/>
              </a:rPr>
              <a:t> Metrics Page</a:t>
            </a:r>
          </a:p>
          <a:p>
            <a:pPr marL="12700">
              <a:lnSpc>
                <a:spcPct val="100000"/>
              </a:lnSpc>
              <a:spcBef>
                <a:spcPts val="100"/>
              </a:spcBef>
            </a:pPr>
            <a:endParaRPr sz="2000" dirty="0">
              <a:latin typeface="Times New Roman"/>
              <a:cs typeface="Times New Roman"/>
            </a:endParaRPr>
          </a:p>
        </p:txBody>
      </p:sp>
      <p:pic>
        <p:nvPicPr>
          <p:cNvPr id="2" name="Picture 1">
            <a:extLst>
              <a:ext uri="{FF2B5EF4-FFF2-40B4-BE49-F238E27FC236}">
                <a16:creationId xmlns:a16="http://schemas.microsoft.com/office/drawing/2014/main" id="{98470AB0-C0F3-446E-B5CC-FD4CCFC8A6B4}"/>
              </a:ext>
            </a:extLst>
          </p:cNvPr>
          <p:cNvPicPr>
            <a:picLocks noChangeAspect="1"/>
          </p:cNvPicPr>
          <p:nvPr/>
        </p:nvPicPr>
        <p:blipFill>
          <a:blip r:embed="rId2"/>
          <a:stretch>
            <a:fillRect/>
          </a:stretch>
        </p:blipFill>
        <p:spPr>
          <a:xfrm>
            <a:off x="165100" y="1424222"/>
            <a:ext cx="9677400" cy="47144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Conclusion</a:t>
            </a:r>
          </a:p>
        </p:txBody>
      </p:sp>
      <p:sp>
        <p:nvSpPr>
          <p:cNvPr id="3" name="object 3"/>
          <p:cNvSpPr txBox="1"/>
          <p:nvPr/>
        </p:nvSpPr>
        <p:spPr>
          <a:xfrm>
            <a:off x="618540" y="1569466"/>
            <a:ext cx="8444865" cy="3706784"/>
          </a:xfrm>
          <a:prstGeom prst="rect">
            <a:avLst/>
          </a:prstGeom>
        </p:spPr>
        <p:txBody>
          <a:bodyPr vert="horz" wrap="square" lIns="0" tIns="13335" rIns="0" bIns="0" rtlCol="0">
            <a:spAutoFit/>
          </a:bodyPr>
          <a:lstStyle/>
          <a:p>
            <a:pPr marL="12700" marR="234950" algn="just">
              <a:lnSpc>
                <a:spcPct val="100000"/>
              </a:lnSpc>
              <a:spcBef>
                <a:spcPts val="105"/>
              </a:spcBef>
            </a:pPr>
            <a:r>
              <a:rPr lang="en-US" sz="2000" dirty="0">
                <a:latin typeface="Times New Roman" panose="02020603050405020304" pitchFamily="18" charset="0"/>
                <a:cs typeface="Times New Roman" panose="02020603050405020304" pitchFamily="18" charset="0"/>
              </a:rPr>
              <a:t>The HybridMusicRec system successfully demonstrates how machine learning techniques can be used to build an effective and personalized music recommendation application. By combining Collaborative Filtering and Content-Based Filtering using cosine similarity and a weighted hybrid formula, the system analyzes both user behavior and audio characteristics to suggest relevant songs to users. The integration of a Flask-based backend with an HTML, CSS, and JavaScript frontend allows users to easily interact with the system and receive real-time recommendations. The inclusion of a metrics dashboard further enhances the project by visualizing evaluation results through interactive charts. Overall, the project shows how hybrid recommendation systems can help users discover diverse and personalized music in a practical and efficient manner.</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5451" y="3384042"/>
            <a:ext cx="2896235" cy="574040"/>
          </a:xfrm>
          <a:prstGeom prst="rect">
            <a:avLst/>
          </a:prstGeom>
        </p:spPr>
        <p:txBody>
          <a:bodyPr vert="horz" wrap="square" lIns="0" tIns="12700" rIns="0" bIns="0" rtlCol="0">
            <a:spAutoFit/>
          </a:bodyPr>
          <a:lstStyle/>
          <a:p>
            <a:pPr marL="12700">
              <a:lnSpc>
                <a:spcPct val="100000"/>
              </a:lnSpc>
              <a:spcBef>
                <a:spcPts val="100"/>
              </a:spcBef>
            </a:pPr>
            <a:r>
              <a:rPr dirty="0"/>
              <a:t>Thank</a:t>
            </a:r>
            <a:r>
              <a:rPr spc="-25" dirty="0"/>
              <a:t> </a:t>
            </a:r>
            <a:r>
              <a:rPr spc="-10" dirty="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185</TotalTime>
  <Words>1138</Words>
  <Application>Microsoft Office PowerPoint</Application>
  <PresentationFormat>Custom</PresentationFormat>
  <Paragraphs>111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MT</vt:lpstr>
      <vt:lpstr>Calibri</vt:lpstr>
      <vt:lpstr>Times New Roman</vt:lpstr>
      <vt:lpstr>Office Theme</vt:lpstr>
      <vt:lpstr>HybridMusicRec: Intelligent Music Recommendation Using Machine Learning </vt:lpstr>
      <vt:lpstr>Contents</vt:lpstr>
      <vt:lpstr>Abstract</vt:lpstr>
      <vt:lpstr>Introduction</vt:lpstr>
      <vt:lpstr>Motivation</vt:lpstr>
      <vt:lpstr>Objectives</vt:lpstr>
      <vt:lpstr>Research Gap(Limitations of existing systems)</vt:lpstr>
      <vt:lpstr>Problem Definition</vt:lpstr>
      <vt:lpstr>Scope</vt:lpstr>
      <vt:lpstr>Technological Stack</vt:lpstr>
      <vt:lpstr>Implementation</vt:lpstr>
      <vt:lpstr>Implementation</vt:lpstr>
      <vt:lpstr>Implementation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Recipe Genie: Intelligent Recipe  Recommendation Using Machine Learning</dc:title>
  <dc:creator>v b</dc:creator>
  <cp:lastModifiedBy>Prathamesh Babar</cp:lastModifiedBy>
  <cp:revision>12</cp:revision>
  <dcterms:created xsi:type="dcterms:W3CDTF">2026-03-15T09:14:29Z</dcterms:created>
  <dcterms:modified xsi:type="dcterms:W3CDTF">2026-04-27T05:41:34Z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2025-10-08T00:00:00Z</vt:filetime>
  </property>
  <property fmtid="{D5CDD505-2E9C-101B-9397-08002B2CF9AE}" pid="3" name="Creator">
    <vt:lpwstr>Microsoft® PowerPoint® 2021</vt:lpwstr>
  </property>
  <property fmtid="{D5CDD505-2E9C-101B-9397-08002B2CF9AE}" pid="4" name="LastSaved">
    <vt:filetime>2026-03-15T00:00:00Z</vt:filetime>
  </property>
  <property fmtid="{D5CDD505-2E9C-101B-9397-08002B2CF9AE}" pid="5" name="Producer">
    <vt:lpwstr>Microsoft® PowerPoint® 2021</vt:lpwstr>
  </property>
</Properties>
</file>